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731520" y="1965960"/>
            <a:ext cx="10725912" cy="914400"/>
          </a:xfrm>
          <a:prstGeom prst="rect">
            <a:avLst/>
          </a:prstGeom>
          <a:noFill/>
          <a:ln/>
        </p:spPr>
        <p:txBody>
          <a:bodyPr wrap="square" rtlCol="0" anchor="ctr"/>
          <a:lstStyle/>
          <a:p>
            <a:pPr algn="ctr" indent="0" marL="0">
              <a:buNone/>
            </a:pPr>
            <a:r>
              <a:rPr lang="en-US" sz="4800" b="1" dirty="0">
                <a:solidFill>
                  <a:srgbClr val="000000"/>
                </a:solidFill>
                <a:latin typeface="Calibri" pitchFamily="34" charset="0"/>
                <a:ea typeface="Calibri" pitchFamily="34" charset="-122"/>
                <a:cs typeface="Calibri" pitchFamily="34" charset="-120"/>
              </a:rPr>
              <a:t>MQL4GREC</a:t>
            </a:r>
            <a:endParaRPr lang="en-US" sz="4800" dirty="0"/>
          </a:p>
        </p:txBody>
      </p:sp>
      <p:sp>
        <p:nvSpPr>
          <p:cNvPr id="3" name="Text 1"/>
          <p:cNvSpPr/>
          <p:nvPr/>
        </p:nvSpPr>
        <p:spPr>
          <a:xfrm>
            <a:off x="731520" y="2788920"/>
            <a:ext cx="10725912" cy="502920"/>
          </a:xfrm>
          <a:prstGeom prst="rect">
            <a:avLst/>
          </a:prstGeom>
          <a:noFill/>
          <a:ln/>
        </p:spPr>
        <p:txBody>
          <a:bodyPr wrap="square" rtlCol="0" anchor="ctr"/>
          <a:lstStyle/>
          <a:p>
            <a:pPr algn="ctr" indent="0" marL="0">
              <a:buNone/>
            </a:pPr>
            <a:r>
              <a:rPr lang="en-US" sz="1950" i="1" dirty="0">
                <a:solidFill>
                  <a:srgbClr val="A62C2C"/>
                </a:solidFill>
                <a:latin typeface="Calibri" pitchFamily="34" charset="0"/>
                <a:ea typeface="Calibri" pitchFamily="34" charset="-122"/>
                <a:cs typeface="Calibri" pitchFamily="34" charset="-120"/>
              </a:rPr>
              <a:t>Multimodal Quantitative Language for Generative Recommendation</a:t>
            </a:r>
            <a:endParaRPr lang="en-US" sz="1950" dirty="0"/>
          </a:p>
        </p:txBody>
      </p:sp>
      <p:sp>
        <p:nvSpPr>
          <p:cNvPr id="4" name="Shape 2"/>
          <p:cNvSpPr/>
          <p:nvPr/>
        </p:nvSpPr>
        <p:spPr>
          <a:xfrm>
            <a:off x="5180076" y="3401568"/>
            <a:ext cx="1828800" cy="32004"/>
          </a:xfrm>
          <a:prstGeom prst="rect">
            <a:avLst/>
          </a:prstGeom>
          <a:solidFill>
            <a:srgbClr val="FF9900"/>
          </a:solidFill>
          <a:ln/>
        </p:spPr>
      </p:sp>
      <p:sp>
        <p:nvSpPr>
          <p:cNvPr id="5" name="Text 3"/>
          <p:cNvSpPr/>
          <p:nvPr/>
        </p:nvSpPr>
        <p:spPr>
          <a:xfrm>
            <a:off x="1645920" y="3703320"/>
            <a:ext cx="8897112" cy="457200"/>
          </a:xfrm>
          <a:prstGeom prst="rect">
            <a:avLst/>
          </a:prstGeom>
          <a:noFill/>
          <a:ln/>
        </p:spPr>
        <p:txBody>
          <a:bodyPr wrap="square" rtlCol="0" anchor="ctr"/>
          <a:lstStyle/>
          <a:p>
            <a:pPr algn="ctr" indent="0" marL="0">
              <a:buNone/>
            </a:pPr>
            <a:r>
              <a:rPr lang="en-US" sz="1450" dirty="0">
                <a:solidFill>
                  <a:srgbClr val="666666"/>
                </a:solidFill>
                <a:latin typeface="Calibri" pitchFamily="34" charset="0"/>
                <a:ea typeface="Calibri" pitchFamily="34" charset="-122"/>
                <a:cs typeface="Calibri" pitchFamily="34" charset="-120"/>
              </a:rPr>
              <a:t>A Paper Walkthrough: Bridging Domains &amp; Modalities with a Unified Token Vocabulary</a:t>
            </a:r>
            <a:endParaRPr lang="en-US" sz="1450" dirty="0"/>
          </a:p>
        </p:txBody>
      </p:sp>
      <p:sp>
        <p:nvSpPr>
          <p:cNvPr id="6" name="Text 4"/>
          <p:cNvSpPr/>
          <p:nvPr/>
        </p:nvSpPr>
        <p:spPr>
          <a:xfrm>
            <a:off x="1645920" y="4663440"/>
            <a:ext cx="8897112" cy="320040"/>
          </a:xfrm>
          <a:prstGeom prst="rect">
            <a:avLst/>
          </a:prstGeom>
          <a:noFill/>
          <a:ln/>
        </p:spPr>
        <p:txBody>
          <a:bodyPr wrap="square" rtlCol="0" anchor="ctr"/>
          <a:lstStyle/>
          <a:p>
            <a:pPr algn="ctr" indent="0" marL="0">
              <a:buNone/>
            </a:pPr>
            <a:r>
              <a:rPr lang="en-US" sz="1350" b="1" dirty="0">
                <a:solidFill>
                  <a:srgbClr val="222222"/>
                </a:solidFill>
                <a:latin typeface="Calibri" pitchFamily="34" charset="0"/>
                <a:ea typeface="Calibri" pitchFamily="34" charset="-122"/>
                <a:cs typeface="Calibri" pitchFamily="34" charset="-120"/>
              </a:rPr>
              <a:t>Published as a Conference Paper at ICLR 2025</a:t>
            </a:r>
            <a:endParaRPr lang="en-US" sz="1350" dirty="0"/>
          </a:p>
        </p:txBody>
      </p:sp>
      <p:sp>
        <p:nvSpPr>
          <p:cNvPr id="7" name="Text 5"/>
          <p:cNvSpPr/>
          <p:nvPr/>
        </p:nvSpPr>
        <p:spPr>
          <a:xfrm>
            <a:off x="1645920" y="5010912"/>
            <a:ext cx="8897112" cy="320040"/>
          </a:xfrm>
          <a:prstGeom prst="rect">
            <a:avLst/>
          </a:prstGeom>
          <a:noFill/>
          <a:ln/>
        </p:spPr>
        <p:txBody>
          <a:bodyPr wrap="square" rtlCol="0" anchor="ctr"/>
          <a:lstStyle/>
          <a:p>
            <a:pPr algn="ctr" indent="0" marL="0">
              <a:buNone/>
            </a:pPr>
            <a:r>
              <a:rPr lang="en-US" sz="1250" dirty="0">
                <a:solidFill>
                  <a:srgbClr val="222222"/>
                </a:solidFill>
                <a:latin typeface="Calibri" pitchFamily="34" charset="0"/>
                <a:ea typeface="Calibri" pitchFamily="34" charset="-122"/>
                <a:cs typeface="Calibri" pitchFamily="34" charset="-120"/>
              </a:rPr>
              <a:t>Zhai, Mai, Wang, Yang, Zheng, Li, Tian — Sun Yat-sen University / Pengcheng Laboratory</a:t>
            </a:r>
            <a:endParaRPr lang="en-US" sz="1250" dirty="0"/>
          </a:p>
        </p:txBody>
      </p:sp>
      <p:sp>
        <p:nvSpPr>
          <p:cNvPr id="8" name="Text 6"/>
          <p:cNvSpPr/>
          <p:nvPr/>
        </p:nvSpPr>
        <p:spPr>
          <a:xfrm>
            <a:off x="1645920" y="5989320"/>
            <a:ext cx="8897112" cy="365760"/>
          </a:xfrm>
          <a:prstGeom prst="rect">
            <a:avLst/>
          </a:prstGeom>
          <a:noFill/>
          <a:ln/>
        </p:spPr>
        <p:txBody>
          <a:bodyPr wrap="square" rtlCol="0" anchor="ctr"/>
          <a:lstStyle/>
          <a:p>
            <a:pPr algn="ctr" indent="0" marL="0">
              <a:buNone/>
            </a:pPr>
            <a:r>
              <a:rPr lang="en-US" sz="1250" dirty="0">
                <a:solidFill>
                  <a:srgbClr val="666666"/>
                </a:solidFill>
                <a:latin typeface="Calibri" pitchFamily="34" charset="0"/>
                <a:ea typeface="Calibri" pitchFamily="34" charset="-122"/>
                <a:cs typeface="Calibri" pitchFamily="34" charset="-120"/>
              </a:rPr>
              <a:t>Reviewed &amp; presented by Krishna Sharma  |  MISN Lab, IIT Delhi Internship</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800" b="1" dirty="0">
                <a:solidFill>
                  <a:srgbClr val="000000"/>
                </a:solidFill>
                <a:latin typeface="Calibri" pitchFamily="34" charset="0"/>
                <a:ea typeface="Calibri" pitchFamily="34" charset="-122"/>
                <a:cs typeface="Calibri" pitchFamily="34" charset="-120"/>
              </a:rPr>
              <a:t>Introduction: The Problem with Traditional Recommenders</a:t>
            </a:r>
            <a:endParaRPr lang="en-US" sz="2800" dirty="0"/>
          </a:p>
        </p:txBody>
      </p:sp>
      <p:sp>
        <p:nvSpPr>
          <p:cNvPr id="3" name="Shape 1"/>
          <p:cNvSpPr/>
          <p:nvPr/>
        </p:nvSpPr>
        <p:spPr>
          <a:xfrm>
            <a:off x="420236" y="1024128"/>
            <a:ext cx="11348479" cy="36576"/>
          </a:xfrm>
          <a:prstGeom prst="rect">
            <a:avLst/>
          </a:prstGeom>
          <a:solidFill>
            <a:srgbClr val="FF9900"/>
          </a:solidFill>
          <a:ln/>
        </p:spPr>
      </p:sp>
      <p:sp>
        <p:nvSpPr>
          <p:cNvPr id="4" name="Text 2"/>
          <p:cNvSpPr/>
          <p:nvPr/>
        </p:nvSpPr>
        <p:spPr>
          <a:xfrm>
            <a:off x="640080" y="1417320"/>
            <a:ext cx="10881360" cy="594360"/>
          </a:xfrm>
          <a:prstGeom prst="rect">
            <a:avLst/>
          </a:prstGeom>
          <a:noFill/>
          <a:ln/>
        </p:spPr>
        <p:txBody>
          <a:bodyPr wrap="square" rtlCol="0" anchor="ctr"/>
          <a:lstStyle/>
          <a:p>
            <a:pPr indent="0" marL="0">
              <a:lnSpc>
                <a:spcPct val="120000"/>
              </a:lnSpc>
              <a:buNone/>
            </a:pPr>
            <a:r>
              <a:rPr lang="en-US" sz="1450" b="1" dirty="0">
                <a:solidFill>
                  <a:srgbClr val="222222"/>
                </a:solidFill>
                <a:latin typeface="Calibri" pitchFamily="34" charset="0"/>
                <a:ea typeface="Calibri" pitchFamily="34" charset="-122"/>
                <a:cs typeface="Calibri" pitchFamily="34" charset="-120"/>
              </a:rPr>
              <a:t>What is a Recommendation System?  </a:t>
            </a:r>
            <a:pPr indent="0" marL="0">
              <a:lnSpc>
                <a:spcPct val="120000"/>
              </a:lnSpc>
              <a:buNone/>
            </a:pPr>
            <a:r>
              <a:rPr lang="en-US" sz="1450" dirty="0">
                <a:solidFill>
                  <a:srgbClr val="222222"/>
                </a:solidFill>
                <a:latin typeface="Calibri" pitchFamily="34" charset="0"/>
                <a:ea typeface="Calibri" pitchFamily="34" charset="-122"/>
                <a:cs typeface="Calibri" pitchFamily="34" charset="-120"/>
              </a:rPr>
              <a:t>A system that predicts items (products, movies, songs) a user may like, used widely across e-commerce and social platforms.</a:t>
            </a:r>
            <a:endParaRPr lang="en-US" sz="1450" dirty="0"/>
          </a:p>
        </p:txBody>
      </p:sp>
      <p:sp>
        <p:nvSpPr>
          <p:cNvPr id="5" name="Text 3"/>
          <p:cNvSpPr/>
          <p:nvPr/>
        </p:nvSpPr>
        <p:spPr>
          <a:xfrm>
            <a:off x="640080" y="2057400"/>
            <a:ext cx="10881360" cy="594360"/>
          </a:xfrm>
          <a:prstGeom prst="rect">
            <a:avLst/>
          </a:prstGeom>
          <a:noFill/>
          <a:ln/>
        </p:spPr>
        <p:txBody>
          <a:bodyPr wrap="square" rtlCol="0" anchor="ctr"/>
          <a:lstStyle/>
          <a:p>
            <a:pPr indent="0" marL="0">
              <a:lnSpc>
                <a:spcPct val="120000"/>
              </a:lnSpc>
              <a:buNone/>
            </a:pPr>
            <a:r>
              <a:rPr lang="en-US" sz="1450" dirty="0">
                <a:solidFill>
                  <a:srgbClr val="222222"/>
                </a:solidFill>
                <a:latin typeface="Calibri" pitchFamily="34" charset="0"/>
                <a:ea typeface="Calibri" pitchFamily="34" charset="-122"/>
                <a:cs typeface="Calibri" pitchFamily="34" charset="-120"/>
              </a:rPr>
              <a:t>For years, </a:t>
            </a:r>
            <a:pPr indent="0" marL="0">
              <a:lnSpc>
                <a:spcPct val="120000"/>
              </a:lnSpc>
              <a:buNone/>
            </a:pPr>
            <a:r>
              <a:rPr lang="en-US" sz="1450" b="1" dirty="0">
                <a:solidFill>
                  <a:srgbClr val="A62C2C"/>
                </a:solidFill>
                <a:latin typeface="Calibri" pitchFamily="34" charset="0"/>
                <a:ea typeface="Calibri" pitchFamily="34" charset="-122"/>
                <a:cs typeface="Calibri" pitchFamily="34" charset="-120"/>
              </a:rPr>
              <a:t>IDRec</a:t>
            </a:r>
            <a:pPr indent="0" marL="0">
              <a:lnSpc>
                <a:spcPct val="120000"/>
              </a:lnSpc>
              <a:buNone/>
            </a:pPr>
            <a:r>
              <a:rPr lang="en-US" sz="1450" dirty="0">
                <a:solidFill>
                  <a:srgbClr val="222222"/>
                </a:solidFill>
                <a:latin typeface="Calibri" pitchFamily="34" charset="0"/>
                <a:ea typeface="Calibri" pitchFamily="34" charset="-122"/>
                <a:cs typeface="Calibri" pitchFamily="34" charset="-120"/>
              </a:rPr>
              <a:t> dominated: every item gets a unique, meaningless numeric ID (e.g. item_4521). Models learn purely from these IDs.</a:t>
            </a:r>
            <a:endParaRPr lang="en-US" sz="1450" dirty="0"/>
          </a:p>
        </p:txBody>
      </p:sp>
      <p:sp>
        <p:nvSpPr>
          <p:cNvPr id="6" name="Shape 4"/>
          <p:cNvSpPr/>
          <p:nvPr/>
        </p:nvSpPr>
        <p:spPr>
          <a:xfrm>
            <a:off x="640080" y="2926080"/>
            <a:ext cx="5349240" cy="1874520"/>
          </a:xfrm>
          <a:prstGeom prst="roundRect">
            <a:avLst>
              <a:gd name="adj" fmla="val 292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7" name="Shape 5"/>
          <p:cNvSpPr/>
          <p:nvPr/>
        </p:nvSpPr>
        <p:spPr>
          <a:xfrm>
            <a:off x="960120" y="3246120"/>
            <a:ext cx="548640" cy="548640"/>
          </a:xfrm>
          <a:prstGeom prst="ellipse">
            <a:avLst/>
          </a:prstGeom>
          <a:solidFill>
            <a:srgbClr val="FF9900"/>
          </a:solidFill>
          <a:ln/>
        </p:spPr>
      </p:sp>
      <p:sp>
        <p:nvSpPr>
          <p:cNvPr id="8" name="Text 6"/>
          <p:cNvSpPr/>
          <p:nvPr/>
        </p:nvSpPr>
        <p:spPr>
          <a:xfrm>
            <a:off x="960120" y="32461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9" name="Text 7"/>
          <p:cNvSpPr/>
          <p:nvPr/>
        </p:nvSpPr>
        <p:spPr>
          <a:xfrm>
            <a:off x="1691640" y="3200400"/>
            <a:ext cx="3931920" cy="457200"/>
          </a:xfrm>
          <a:prstGeom prst="rect">
            <a:avLst/>
          </a:prstGeom>
          <a:noFill/>
          <a:ln/>
        </p:spPr>
        <p:txBody>
          <a:bodyPr wrap="square" rtlCol="0" anchor="ctr"/>
          <a:lstStyle/>
          <a:p>
            <a:pPr indent="0" marL="0">
              <a:buNone/>
            </a:pPr>
            <a:r>
              <a:rPr lang="en-US" sz="1650" b="1" dirty="0">
                <a:solidFill>
                  <a:srgbClr val="222222"/>
                </a:solidFill>
                <a:latin typeface="Calibri" pitchFamily="34" charset="0"/>
                <a:ea typeface="Calibri" pitchFamily="34" charset="-122"/>
                <a:cs typeface="Calibri" pitchFamily="34" charset="-120"/>
              </a:rPr>
              <a:t>Cold-Start Problem</a:t>
            </a:r>
            <a:endParaRPr lang="en-US" sz="1650" dirty="0"/>
          </a:p>
        </p:txBody>
      </p:sp>
      <p:sp>
        <p:nvSpPr>
          <p:cNvPr id="10" name="Text 8"/>
          <p:cNvSpPr/>
          <p:nvPr/>
        </p:nvSpPr>
        <p:spPr>
          <a:xfrm>
            <a:off x="960120" y="3794760"/>
            <a:ext cx="4709160" cy="914400"/>
          </a:xfrm>
          <a:prstGeom prst="rect">
            <a:avLst/>
          </a:prstGeom>
          <a:noFill/>
          <a:ln/>
        </p:spPr>
        <p:txBody>
          <a:bodyPr wrap="square" rtlCol="0" anchor="ctr"/>
          <a:lstStyle/>
          <a:p>
            <a:pPr indent="0" marL="0">
              <a:lnSpc>
                <a:spcPct val="125000"/>
              </a:lnSpc>
              <a:buNone/>
            </a:pPr>
            <a:r>
              <a:rPr lang="en-US" sz="1350" dirty="0">
                <a:solidFill>
                  <a:srgbClr val="666666"/>
                </a:solidFill>
                <a:latin typeface="Calibri" pitchFamily="34" charset="0"/>
                <a:ea typeface="Calibri" pitchFamily="34" charset="-122"/>
                <a:cs typeface="Calibri" pitchFamily="34" charset="-120"/>
              </a:rPr>
              <a:t>A brand-new item has an ID the model has never seen — so it cannot be recommended reliably.</a:t>
            </a:r>
            <a:endParaRPr lang="en-US" sz="1350" dirty="0"/>
          </a:p>
        </p:txBody>
      </p:sp>
      <p:sp>
        <p:nvSpPr>
          <p:cNvPr id="11" name="Shape 9"/>
          <p:cNvSpPr/>
          <p:nvPr/>
        </p:nvSpPr>
        <p:spPr>
          <a:xfrm>
            <a:off x="6263640" y="2926080"/>
            <a:ext cx="5349240" cy="1874520"/>
          </a:xfrm>
          <a:prstGeom prst="roundRect">
            <a:avLst>
              <a:gd name="adj" fmla="val 292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2" name="Shape 10"/>
          <p:cNvSpPr/>
          <p:nvPr/>
        </p:nvSpPr>
        <p:spPr>
          <a:xfrm>
            <a:off x="6583680" y="3246120"/>
            <a:ext cx="548640" cy="548640"/>
          </a:xfrm>
          <a:prstGeom prst="ellipse">
            <a:avLst/>
          </a:prstGeom>
          <a:solidFill>
            <a:srgbClr val="FF9900"/>
          </a:solidFill>
          <a:ln/>
        </p:spPr>
      </p:sp>
      <p:sp>
        <p:nvSpPr>
          <p:cNvPr id="13" name="Text 11"/>
          <p:cNvSpPr/>
          <p:nvPr/>
        </p:nvSpPr>
        <p:spPr>
          <a:xfrm>
            <a:off x="6583680" y="3246120"/>
            <a:ext cx="548640" cy="54864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4" name="Text 12"/>
          <p:cNvSpPr/>
          <p:nvPr/>
        </p:nvSpPr>
        <p:spPr>
          <a:xfrm>
            <a:off x="7315200" y="3200400"/>
            <a:ext cx="3931920" cy="457200"/>
          </a:xfrm>
          <a:prstGeom prst="rect">
            <a:avLst/>
          </a:prstGeom>
          <a:noFill/>
          <a:ln/>
        </p:spPr>
        <p:txBody>
          <a:bodyPr wrap="square" rtlCol="0" anchor="ctr"/>
          <a:lstStyle/>
          <a:p>
            <a:pPr indent="0" marL="0">
              <a:buNone/>
            </a:pPr>
            <a:r>
              <a:rPr lang="en-US" sz="1650" b="1" dirty="0">
                <a:solidFill>
                  <a:srgbClr val="222222"/>
                </a:solidFill>
                <a:latin typeface="Calibri" pitchFamily="34" charset="0"/>
                <a:ea typeface="Calibri" pitchFamily="34" charset="-122"/>
                <a:cs typeface="Calibri" pitchFamily="34" charset="-120"/>
              </a:rPr>
              <a:t>No Knowledge Transfer</a:t>
            </a:r>
            <a:endParaRPr lang="en-US" sz="1650" dirty="0"/>
          </a:p>
        </p:txBody>
      </p:sp>
      <p:sp>
        <p:nvSpPr>
          <p:cNvPr id="15" name="Text 13"/>
          <p:cNvSpPr/>
          <p:nvPr/>
        </p:nvSpPr>
        <p:spPr>
          <a:xfrm>
            <a:off x="6583680" y="3794760"/>
            <a:ext cx="4709160" cy="914400"/>
          </a:xfrm>
          <a:prstGeom prst="rect">
            <a:avLst/>
          </a:prstGeom>
          <a:noFill/>
          <a:ln/>
        </p:spPr>
        <p:txBody>
          <a:bodyPr wrap="square" rtlCol="0" anchor="ctr"/>
          <a:lstStyle/>
          <a:p>
            <a:pPr indent="0" marL="0">
              <a:lnSpc>
                <a:spcPct val="125000"/>
              </a:lnSpc>
              <a:buNone/>
            </a:pPr>
            <a:r>
              <a:rPr lang="en-US" sz="1350" dirty="0">
                <a:solidFill>
                  <a:srgbClr val="666666"/>
                </a:solidFill>
                <a:latin typeface="Calibri" pitchFamily="34" charset="0"/>
                <a:ea typeface="Calibri" pitchFamily="34" charset="-122"/>
                <a:cs typeface="Calibri" pitchFamily="34" charset="-120"/>
              </a:rPr>
              <a:t>Random IDs carry no meaning, so what a model learns in one domain never helps another domain.</a:t>
            </a:r>
            <a:endParaRPr lang="en-US" sz="1350" dirty="0"/>
          </a:p>
        </p:txBody>
      </p:sp>
      <p:sp>
        <p:nvSpPr>
          <p:cNvPr id="16" name="Shape 14"/>
          <p:cNvSpPr/>
          <p:nvPr/>
        </p:nvSpPr>
        <p:spPr>
          <a:xfrm>
            <a:off x="640080" y="5029200"/>
            <a:ext cx="10881360" cy="1234440"/>
          </a:xfrm>
          <a:prstGeom prst="roundRect">
            <a:avLst>
              <a:gd name="adj" fmla="val 4444"/>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914400" y="5166360"/>
            <a:ext cx="10332720" cy="960120"/>
          </a:xfrm>
          <a:prstGeom prst="rect">
            <a:avLst/>
          </a:prstGeom>
          <a:noFill/>
          <a:ln/>
        </p:spPr>
        <p:txBody>
          <a:bodyPr wrap="square" rtlCol="0" anchor="ctr"/>
          <a:lstStyle/>
          <a:p>
            <a:pPr indent="0" marL="0">
              <a:lnSpc>
                <a:spcPct val="125000"/>
              </a:lnSpc>
              <a:buNone/>
            </a:pPr>
            <a:r>
              <a:rPr lang="en-US" sz="1400" b="1" dirty="0">
                <a:solidFill>
                  <a:srgbClr val="222222"/>
                </a:solidFill>
                <a:latin typeface="Calibri" pitchFamily="34" charset="0"/>
                <a:ea typeface="Calibri" pitchFamily="34" charset="-122"/>
                <a:cs typeface="Calibri" pitchFamily="34" charset="-120"/>
              </a:rPr>
              <a:t>Recent generative approaches </a:t>
            </a:r>
            <a:pPr indent="0" marL="0">
              <a:lnSpc>
                <a:spcPct val="125000"/>
              </a:lnSpc>
              <a:buNone/>
            </a:pPr>
            <a:r>
              <a:rPr lang="en-US" sz="1400" dirty="0">
                <a:solidFill>
                  <a:srgbClr val="222222"/>
                </a:solidFill>
                <a:latin typeface="Calibri" pitchFamily="34" charset="0"/>
                <a:ea typeface="Calibri" pitchFamily="34" charset="-122"/>
                <a:cs typeface="Calibri" pitchFamily="34" charset="-120"/>
              </a:rPr>
              <a:t>predict item-identifier tokens directly (seq2seq), leveraging pretrained language models (PLMs) like LLaMA/GPT — but they still ignore multimodal item content and struggle to transfer knowledge across domains.</a:t>
            </a:r>
            <a:endParaRPr lang="en-US" sz="14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2</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200" b="1" dirty="0">
                <a:solidFill>
                  <a:srgbClr val="000000"/>
                </a:solidFill>
                <a:latin typeface="Calibri" pitchFamily="34" charset="0"/>
                <a:ea typeface="Calibri" pitchFamily="34" charset="-122"/>
                <a:cs typeface="Calibri" pitchFamily="34" charset="-120"/>
              </a:rPr>
              <a:t>Problem Statement</a:t>
            </a:r>
            <a:endParaRPr lang="en-US" sz="3200" dirty="0"/>
          </a:p>
        </p:txBody>
      </p:sp>
      <p:sp>
        <p:nvSpPr>
          <p:cNvPr id="3" name="Shape 1"/>
          <p:cNvSpPr/>
          <p:nvPr/>
        </p:nvSpPr>
        <p:spPr>
          <a:xfrm>
            <a:off x="3962012" y="1024128"/>
            <a:ext cx="4264927" cy="36576"/>
          </a:xfrm>
          <a:prstGeom prst="rect">
            <a:avLst/>
          </a:prstGeom>
          <a:solidFill>
            <a:srgbClr val="FF9900"/>
          </a:solidFill>
          <a:ln/>
        </p:spPr>
      </p:sp>
      <p:sp>
        <p:nvSpPr>
          <p:cNvPr id="4" name="Shape 2"/>
          <p:cNvSpPr/>
          <p:nvPr/>
        </p:nvSpPr>
        <p:spPr>
          <a:xfrm>
            <a:off x="640080" y="1417320"/>
            <a:ext cx="5257800" cy="1463040"/>
          </a:xfrm>
          <a:prstGeom prst="roundRect">
            <a:avLst>
              <a:gd name="adj" fmla="val 375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554480"/>
            <a:ext cx="4709160" cy="36576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PLM–RS Mismatch</a:t>
            </a:r>
            <a:endParaRPr lang="en-US" sz="1600" dirty="0"/>
          </a:p>
        </p:txBody>
      </p:sp>
      <p:sp>
        <p:nvSpPr>
          <p:cNvPr id="6" name="Text 4"/>
          <p:cNvSpPr/>
          <p:nvPr/>
        </p:nvSpPr>
        <p:spPr>
          <a:xfrm>
            <a:off x="914400" y="1947672"/>
            <a:ext cx="4709160" cy="868680"/>
          </a:xfrm>
          <a:prstGeom prst="rect">
            <a:avLst/>
          </a:prstGeom>
          <a:noFill/>
          <a:ln/>
        </p:spPr>
        <p:txBody>
          <a:bodyPr wrap="square" rtlCol="0" anchor="ctr"/>
          <a:lstStyle/>
          <a:p>
            <a:pPr indent="0" marL="0">
              <a:lnSpc>
                <a:spcPct val="125000"/>
              </a:lnSpc>
              <a:buNone/>
            </a:pPr>
            <a:r>
              <a:rPr lang="en-US" sz="1350" dirty="0">
                <a:solidFill>
                  <a:srgbClr val="222222"/>
                </a:solidFill>
                <a:latin typeface="Calibri" pitchFamily="34" charset="0"/>
                <a:ea typeface="Calibri" pitchFamily="34" charset="-122"/>
                <a:cs typeface="Calibri" pitchFamily="34" charset="-120"/>
              </a:rPr>
              <a:t>General linguistic knowledge inside PLMs doesn't align with the specific requirements of recommendation tasks.</a:t>
            </a:r>
            <a:endParaRPr lang="en-US" sz="1350" dirty="0"/>
          </a:p>
        </p:txBody>
      </p:sp>
      <p:sp>
        <p:nvSpPr>
          <p:cNvPr id="7" name="Shape 5"/>
          <p:cNvSpPr/>
          <p:nvPr/>
        </p:nvSpPr>
        <p:spPr>
          <a:xfrm>
            <a:off x="6263640" y="1417320"/>
            <a:ext cx="5257800" cy="1463040"/>
          </a:xfrm>
          <a:prstGeom prst="roundRect">
            <a:avLst>
              <a:gd name="adj" fmla="val 375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537960" y="1554480"/>
            <a:ext cx="4709160" cy="36576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Multimodal Info Ignored</a:t>
            </a:r>
            <a:endParaRPr lang="en-US" sz="1600" dirty="0"/>
          </a:p>
        </p:txBody>
      </p:sp>
      <p:sp>
        <p:nvSpPr>
          <p:cNvPr id="9" name="Text 7"/>
          <p:cNvSpPr/>
          <p:nvPr/>
        </p:nvSpPr>
        <p:spPr>
          <a:xfrm>
            <a:off x="6537960" y="1947672"/>
            <a:ext cx="4709160" cy="868680"/>
          </a:xfrm>
          <a:prstGeom prst="rect">
            <a:avLst/>
          </a:prstGeom>
          <a:noFill/>
          <a:ln/>
        </p:spPr>
        <p:txBody>
          <a:bodyPr wrap="square" rtlCol="0" anchor="ctr"/>
          <a:lstStyle/>
          <a:p>
            <a:pPr indent="0" marL="0">
              <a:lnSpc>
                <a:spcPct val="125000"/>
              </a:lnSpc>
              <a:buNone/>
            </a:pPr>
            <a:r>
              <a:rPr lang="en-US" sz="1350" dirty="0">
                <a:solidFill>
                  <a:srgbClr val="222222"/>
                </a:solidFill>
                <a:latin typeface="Calibri" pitchFamily="34" charset="0"/>
                <a:ea typeface="Calibri" pitchFamily="34" charset="-122"/>
                <a:cs typeface="Calibri" pitchFamily="34" charset="-120"/>
              </a:rPr>
              <a:t>Existing methods rarely exploit the complementary knowledge between an item's text and image content.</a:t>
            </a:r>
            <a:endParaRPr lang="en-US" sz="1350" dirty="0"/>
          </a:p>
        </p:txBody>
      </p:sp>
      <p:sp>
        <p:nvSpPr>
          <p:cNvPr id="10" name="Shape 8"/>
          <p:cNvSpPr/>
          <p:nvPr/>
        </p:nvSpPr>
        <p:spPr>
          <a:xfrm>
            <a:off x="640080" y="3063240"/>
            <a:ext cx="5257800" cy="1463040"/>
          </a:xfrm>
          <a:prstGeom prst="roundRect">
            <a:avLst>
              <a:gd name="adj" fmla="val 375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914400" y="3200400"/>
            <a:ext cx="4709160" cy="36576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Meaningless IDs</a:t>
            </a:r>
            <a:endParaRPr lang="en-US" sz="1600" dirty="0"/>
          </a:p>
        </p:txBody>
      </p:sp>
      <p:sp>
        <p:nvSpPr>
          <p:cNvPr id="12" name="Text 10"/>
          <p:cNvSpPr/>
          <p:nvPr/>
        </p:nvSpPr>
        <p:spPr>
          <a:xfrm>
            <a:off x="914400" y="3593592"/>
            <a:ext cx="4709160" cy="868680"/>
          </a:xfrm>
          <a:prstGeom prst="rect">
            <a:avLst/>
          </a:prstGeom>
          <a:noFill/>
          <a:ln/>
        </p:spPr>
        <p:txBody>
          <a:bodyPr wrap="square" rtlCol="0" anchor="ctr"/>
          <a:lstStyle/>
          <a:p>
            <a:pPr indent="0" marL="0">
              <a:lnSpc>
                <a:spcPct val="125000"/>
              </a:lnSpc>
              <a:buNone/>
            </a:pPr>
            <a:r>
              <a:rPr lang="en-US" sz="1350" dirty="0">
                <a:solidFill>
                  <a:srgbClr val="222222"/>
                </a:solidFill>
                <a:latin typeface="Calibri" pitchFamily="34" charset="0"/>
                <a:ea typeface="Calibri" pitchFamily="34" charset="-122"/>
                <a:cs typeface="Calibri" pitchFamily="34" charset="-120"/>
              </a:rPr>
              <a:t>Random or sequential item IDs carry zero semantic signal — similar items look unrelated to the model.</a:t>
            </a:r>
            <a:endParaRPr lang="en-US" sz="1350" dirty="0"/>
          </a:p>
        </p:txBody>
      </p:sp>
      <p:sp>
        <p:nvSpPr>
          <p:cNvPr id="13" name="Shape 11"/>
          <p:cNvSpPr/>
          <p:nvPr/>
        </p:nvSpPr>
        <p:spPr>
          <a:xfrm>
            <a:off x="6263640" y="3063240"/>
            <a:ext cx="5257800" cy="1463040"/>
          </a:xfrm>
          <a:prstGeom prst="roundRect">
            <a:avLst>
              <a:gd name="adj" fmla="val 375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537960" y="3200400"/>
            <a:ext cx="4709160" cy="36576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Domain Silos</a:t>
            </a:r>
            <a:endParaRPr lang="en-US" sz="1600" dirty="0"/>
          </a:p>
        </p:txBody>
      </p:sp>
      <p:sp>
        <p:nvSpPr>
          <p:cNvPr id="15" name="Text 13"/>
          <p:cNvSpPr/>
          <p:nvPr/>
        </p:nvSpPr>
        <p:spPr>
          <a:xfrm>
            <a:off x="6537960" y="3593592"/>
            <a:ext cx="4709160" cy="868680"/>
          </a:xfrm>
          <a:prstGeom prst="rect">
            <a:avLst/>
          </a:prstGeom>
          <a:noFill/>
          <a:ln/>
        </p:spPr>
        <p:txBody>
          <a:bodyPr wrap="square" rtlCol="0" anchor="ctr"/>
          <a:lstStyle/>
          <a:p>
            <a:pPr indent="0" marL="0">
              <a:lnSpc>
                <a:spcPct val="125000"/>
              </a:lnSpc>
              <a:buNone/>
            </a:pPr>
            <a:r>
              <a:rPr lang="en-US" sz="1350" dirty="0">
                <a:solidFill>
                  <a:srgbClr val="222222"/>
                </a:solidFill>
                <a:latin typeface="Calibri" pitchFamily="34" charset="0"/>
                <a:ea typeface="Calibri" pitchFamily="34" charset="-122"/>
                <a:cs typeface="Calibri" pitchFamily="34" charset="-120"/>
              </a:rPr>
              <a:t>Recommendation knowledge learned in one domain (e.g. Toys) cannot transfer to another (e.g. Instruments).</a:t>
            </a:r>
            <a:endParaRPr lang="en-US" sz="1350" dirty="0"/>
          </a:p>
        </p:txBody>
      </p:sp>
      <p:sp>
        <p:nvSpPr>
          <p:cNvPr id="16" name="Text 14"/>
          <p:cNvSpPr/>
          <p:nvPr/>
        </p:nvSpPr>
        <p:spPr>
          <a:xfrm>
            <a:off x="640080" y="4800600"/>
            <a:ext cx="10881360" cy="457200"/>
          </a:xfrm>
          <a:prstGeom prst="rect">
            <a:avLst/>
          </a:prstGeom>
          <a:noFill/>
          <a:ln/>
        </p:spPr>
        <p:txBody>
          <a:bodyPr wrap="square" rtlCol="0" anchor="ctr"/>
          <a:lstStyle/>
          <a:p>
            <a:pPr algn="ctr" indent="0" marL="0">
              <a:buNone/>
            </a:pPr>
            <a:r>
              <a:rPr lang="en-US" sz="1550" b="1" i="1" dirty="0">
                <a:solidFill>
                  <a:srgbClr val="222222"/>
                </a:solidFill>
                <a:latin typeface="Calibri" pitchFamily="34" charset="0"/>
                <a:ea typeface="Calibri" pitchFamily="34" charset="-122"/>
                <a:cs typeface="Calibri" pitchFamily="34" charset="-120"/>
              </a:rPr>
              <a:t>Goal: transform items from every domain and modality into ONE unified, meaningful token language.</a:t>
            </a:r>
            <a:endParaRPr lang="en-US" sz="1550" dirty="0"/>
          </a:p>
        </p:txBody>
      </p:sp>
      <p:sp>
        <p:nvSpPr>
          <p:cNvPr id="17" name="Text 15"/>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3</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700" b="1" dirty="0">
                <a:solidFill>
                  <a:srgbClr val="000000"/>
                </a:solidFill>
                <a:latin typeface="Calibri" pitchFamily="34" charset="0"/>
                <a:ea typeface="Calibri" pitchFamily="34" charset="-122"/>
                <a:cs typeface="Calibri" pitchFamily="34" charset="-120"/>
              </a:rPr>
              <a:t>Our Solution: MQL4GRec — An End-to-End System</a:t>
            </a:r>
            <a:endParaRPr lang="en-US" sz="2700" dirty="0"/>
          </a:p>
        </p:txBody>
      </p:sp>
      <p:sp>
        <p:nvSpPr>
          <p:cNvPr id="3" name="Shape 1"/>
          <p:cNvSpPr/>
          <p:nvPr/>
        </p:nvSpPr>
        <p:spPr>
          <a:xfrm>
            <a:off x="1575936" y="1024128"/>
            <a:ext cx="9037079" cy="36576"/>
          </a:xfrm>
          <a:prstGeom prst="rect">
            <a:avLst/>
          </a:prstGeom>
          <a:solidFill>
            <a:srgbClr val="FF9900"/>
          </a:solidFill>
          <a:ln/>
        </p:spPr>
      </p:sp>
      <p:sp>
        <p:nvSpPr>
          <p:cNvPr id="4" name="Shape 2"/>
          <p:cNvSpPr/>
          <p:nvPr/>
        </p:nvSpPr>
        <p:spPr>
          <a:xfrm>
            <a:off x="640080" y="1508760"/>
            <a:ext cx="2587752" cy="2880360"/>
          </a:xfrm>
          <a:prstGeom prst="roundRect">
            <a:avLst>
              <a:gd name="adj" fmla="val 212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1568196" y="1783080"/>
            <a:ext cx="731520" cy="731520"/>
          </a:xfrm>
          <a:prstGeom prst="ellipse">
            <a:avLst/>
          </a:prstGeom>
          <a:solidFill>
            <a:srgbClr val="FF9900"/>
          </a:solidFill>
          <a:ln/>
        </p:spPr>
      </p:sp>
      <p:sp>
        <p:nvSpPr>
          <p:cNvPr id="6" name="Text 4"/>
          <p:cNvSpPr/>
          <p:nvPr/>
        </p:nvSpPr>
        <p:spPr>
          <a:xfrm>
            <a:off x="1568196" y="1783080"/>
            <a:ext cx="73152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7" name="Text 5"/>
          <p:cNvSpPr/>
          <p:nvPr/>
        </p:nvSpPr>
        <p:spPr>
          <a:xfrm>
            <a:off x="777240" y="2651760"/>
            <a:ext cx="2313432" cy="640080"/>
          </a:xfrm>
          <a:prstGeom prst="rect">
            <a:avLst/>
          </a:prstGeom>
          <a:noFill/>
          <a:ln/>
        </p:spPr>
        <p:txBody>
          <a:bodyPr wrap="square" rtlCol="0" anchor="ctr"/>
          <a:lstStyle/>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Quantitative</a:t>
            </a:r>
            <a:endParaRPr lang="en-US" sz="1550" dirty="0"/>
          </a:p>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Translator</a:t>
            </a:r>
            <a:endParaRPr lang="en-US" sz="1550" dirty="0"/>
          </a:p>
        </p:txBody>
      </p:sp>
      <p:sp>
        <p:nvSpPr>
          <p:cNvPr id="8" name="Text 6"/>
          <p:cNvSpPr/>
          <p:nvPr/>
        </p:nvSpPr>
        <p:spPr>
          <a:xfrm>
            <a:off x="822960" y="3337560"/>
            <a:ext cx="2221992" cy="96012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RQ-VAE converts item text &amp; image content into shared token codewords</a:t>
            </a:r>
            <a:endParaRPr lang="en-US" sz="1200" dirty="0"/>
          </a:p>
        </p:txBody>
      </p:sp>
      <p:sp>
        <p:nvSpPr>
          <p:cNvPr id="9" name="Shape 7"/>
          <p:cNvSpPr/>
          <p:nvPr/>
        </p:nvSpPr>
        <p:spPr>
          <a:xfrm>
            <a:off x="3383280" y="1508760"/>
            <a:ext cx="2587752" cy="2880360"/>
          </a:xfrm>
          <a:prstGeom prst="roundRect">
            <a:avLst>
              <a:gd name="adj" fmla="val 212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0" name="Shape 8"/>
          <p:cNvSpPr/>
          <p:nvPr/>
        </p:nvSpPr>
        <p:spPr>
          <a:xfrm>
            <a:off x="4311396" y="1783080"/>
            <a:ext cx="731520" cy="731520"/>
          </a:xfrm>
          <a:prstGeom prst="ellipse">
            <a:avLst/>
          </a:prstGeom>
          <a:solidFill>
            <a:srgbClr val="FF9900"/>
          </a:solidFill>
          <a:ln/>
        </p:spPr>
      </p:sp>
      <p:sp>
        <p:nvSpPr>
          <p:cNvPr id="11" name="Text 9"/>
          <p:cNvSpPr/>
          <p:nvPr/>
        </p:nvSpPr>
        <p:spPr>
          <a:xfrm>
            <a:off x="4311396" y="1783080"/>
            <a:ext cx="73152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2" name="Text 10"/>
          <p:cNvSpPr/>
          <p:nvPr/>
        </p:nvSpPr>
        <p:spPr>
          <a:xfrm>
            <a:off x="3520440" y="2651760"/>
            <a:ext cx="2313432" cy="640080"/>
          </a:xfrm>
          <a:prstGeom prst="rect">
            <a:avLst/>
          </a:prstGeom>
          <a:noFill/>
          <a:ln/>
        </p:spPr>
        <p:txBody>
          <a:bodyPr wrap="square" rtlCol="0" anchor="ctr"/>
          <a:lstStyle/>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QLG Tasks</a:t>
            </a:r>
            <a:endParaRPr lang="en-US" sz="1550" dirty="0"/>
          </a:p>
        </p:txBody>
      </p:sp>
      <p:sp>
        <p:nvSpPr>
          <p:cNvPr id="13" name="Text 11"/>
          <p:cNvSpPr/>
          <p:nvPr/>
        </p:nvSpPr>
        <p:spPr>
          <a:xfrm>
            <a:off x="3566160" y="3337560"/>
            <a:ext cx="2221992" cy="96012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NIG, AIG &amp; QLA tasks enrich tokens with semantic + cross-modal knowledge</a:t>
            </a:r>
            <a:endParaRPr lang="en-US" sz="1200" dirty="0"/>
          </a:p>
        </p:txBody>
      </p:sp>
      <p:sp>
        <p:nvSpPr>
          <p:cNvPr id="14" name="Shape 12"/>
          <p:cNvSpPr/>
          <p:nvPr/>
        </p:nvSpPr>
        <p:spPr>
          <a:xfrm>
            <a:off x="6126480" y="1508760"/>
            <a:ext cx="2587752" cy="2880360"/>
          </a:xfrm>
          <a:prstGeom prst="roundRect">
            <a:avLst>
              <a:gd name="adj" fmla="val 212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5" name="Shape 13"/>
          <p:cNvSpPr/>
          <p:nvPr/>
        </p:nvSpPr>
        <p:spPr>
          <a:xfrm>
            <a:off x="7054596" y="1783080"/>
            <a:ext cx="731520" cy="731520"/>
          </a:xfrm>
          <a:prstGeom prst="ellipse">
            <a:avLst/>
          </a:prstGeom>
          <a:solidFill>
            <a:srgbClr val="FF9900"/>
          </a:solidFill>
          <a:ln/>
        </p:spPr>
      </p:sp>
      <p:sp>
        <p:nvSpPr>
          <p:cNvPr id="16" name="Text 14"/>
          <p:cNvSpPr/>
          <p:nvPr/>
        </p:nvSpPr>
        <p:spPr>
          <a:xfrm>
            <a:off x="7054596" y="1783080"/>
            <a:ext cx="73152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17" name="Text 15"/>
          <p:cNvSpPr/>
          <p:nvPr/>
        </p:nvSpPr>
        <p:spPr>
          <a:xfrm>
            <a:off x="6263640" y="2651760"/>
            <a:ext cx="2313432" cy="640080"/>
          </a:xfrm>
          <a:prstGeom prst="rect">
            <a:avLst/>
          </a:prstGeom>
          <a:noFill/>
          <a:ln/>
        </p:spPr>
        <p:txBody>
          <a:bodyPr wrap="square" rtlCol="0" anchor="ctr"/>
          <a:lstStyle/>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Pretrain +</a:t>
            </a:r>
            <a:endParaRPr lang="en-US" sz="1550" dirty="0"/>
          </a:p>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Fine-tune</a:t>
            </a:r>
            <a:endParaRPr lang="en-US" sz="1550" dirty="0"/>
          </a:p>
        </p:txBody>
      </p:sp>
      <p:sp>
        <p:nvSpPr>
          <p:cNvPr id="18" name="Text 16"/>
          <p:cNvSpPr/>
          <p:nvPr/>
        </p:nvSpPr>
        <p:spPr>
          <a:xfrm>
            <a:off x="6309360" y="3337560"/>
            <a:ext cx="2221992" cy="96012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T5-style encoder–decoder transfers knowledge from source to target domains</a:t>
            </a:r>
            <a:endParaRPr lang="en-US" sz="1200" dirty="0"/>
          </a:p>
        </p:txBody>
      </p:sp>
      <p:sp>
        <p:nvSpPr>
          <p:cNvPr id="19" name="Shape 17"/>
          <p:cNvSpPr/>
          <p:nvPr/>
        </p:nvSpPr>
        <p:spPr>
          <a:xfrm>
            <a:off x="8869680" y="1508760"/>
            <a:ext cx="2587752" cy="2880360"/>
          </a:xfrm>
          <a:prstGeom prst="roundRect">
            <a:avLst>
              <a:gd name="adj" fmla="val 212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20" name="Shape 18"/>
          <p:cNvSpPr/>
          <p:nvPr/>
        </p:nvSpPr>
        <p:spPr>
          <a:xfrm>
            <a:off x="9797796" y="1783080"/>
            <a:ext cx="731520" cy="731520"/>
          </a:xfrm>
          <a:prstGeom prst="ellipse">
            <a:avLst/>
          </a:prstGeom>
          <a:solidFill>
            <a:srgbClr val="FF9900"/>
          </a:solidFill>
          <a:ln/>
        </p:spPr>
      </p:sp>
      <p:sp>
        <p:nvSpPr>
          <p:cNvPr id="21" name="Text 19"/>
          <p:cNvSpPr/>
          <p:nvPr/>
        </p:nvSpPr>
        <p:spPr>
          <a:xfrm>
            <a:off x="9797796" y="1783080"/>
            <a:ext cx="731520" cy="731520"/>
          </a:xfrm>
          <a:prstGeom prst="rect">
            <a:avLst/>
          </a:prstGeom>
          <a:noFill/>
          <a:ln/>
        </p:spPr>
        <p:txBody>
          <a:bodyPr wrap="square"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a:t>
            </a:r>
            <a:endParaRPr lang="en-US" sz="2200" dirty="0"/>
          </a:p>
        </p:txBody>
      </p:sp>
      <p:sp>
        <p:nvSpPr>
          <p:cNvPr id="22" name="Text 20"/>
          <p:cNvSpPr/>
          <p:nvPr/>
        </p:nvSpPr>
        <p:spPr>
          <a:xfrm>
            <a:off x="9006840" y="2651760"/>
            <a:ext cx="2313432" cy="640080"/>
          </a:xfrm>
          <a:prstGeom prst="rect">
            <a:avLst/>
          </a:prstGeom>
          <a:noFill/>
          <a:ln/>
        </p:spPr>
        <p:txBody>
          <a:bodyPr wrap="square" rtlCol="0" anchor="ctr"/>
          <a:lstStyle/>
          <a:p>
            <a:pPr algn="ctr" indent="0" marL="0">
              <a:lnSpc>
                <a:spcPct val="105000"/>
              </a:lnSpc>
              <a:buNone/>
            </a:pPr>
            <a:r>
              <a:rPr lang="en-US" sz="1550" b="1" dirty="0">
                <a:solidFill>
                  <a:srgbClr val="222222"/>
                </a:solidFill>
                <a:latin typeface="Calibri" pitchFamily="34" charset="0"/>
                <a:ea typeface="Calibri" pitchFamily="34" charset="-122"/>
                <a:cs typeface="Calibri" pitchFamily="34" charset="-120"/>
              </a:rPr>
              <a:t>Re-ranking</a:t>
            </a:r>
            <a:endParaRPr lang="en-US" sz="1550" dirty="0"/>
          </a:p>
        </p:txBody>
      </p:sp>
      <p:sp>
        <p:nvSpPr>
          <p:cNvPr id="23" name="Text 21"/>
          <p:cNvSpPr/>
          <p:nvPr/>
        </p:nvSpPr>
        <p:spPr>
          <a:xfrm>
            <a:off x="9052560" y="3337560"/>
            <a:ext cx="2221992" cy="96012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Merges text- and image-based recommendation lists into one final ranking</a:t>
            </a:r>
            <a:endParaRPr lang="en-US" sz="1200" dirty="0"/>
          </a:p>
        </p:txBody>
      </p:sp>
      <p:sp>
        <p:nvSpPr>
          <p:cNvPr id="24" name="Shape 22"/>
          <p:cNvSpPr/>
          <p:nvPr/>
        </p:nvSpPr>
        <p:spPr>
          <a:xfrm>
            <a:off x="640080" y="4709160"/>
            <a:ext cx="10881360" cy="1371600"/>
          </a:xfrm>
          <a:prstGeom prst="roundRect">
            <a:avLst>
              <a:gd name="adj" fmla="val 400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25" name="Text 23"/>
          <p:cNvSpPr/>
          <p:nvPr/>
        </p:nvSpPr>
        <p:spPr>
          <a:xfrm>
            <a:off x="914400" y="4846320"/>
            <a:ext cx="10332720" cy="109728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  Positioned as: items from different domains and modalities all share ONE vocabulary — this shared language becomes the bridge for transferring recommendation knowledge, not just an identifier.</a:t>
            </a:r>
            <a:endParaRPr lang="en-US" sz="1400" dirty="0"/>
          </a:p>
        </p:txBody>
      </p:sp>
      <p:sp>
        <p:nvSpPr>
          <p:cNvPr id="26" name="Text 24"/>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4</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System Workflow: How It Works</a:t>
            </a:r>
            <a:endParaRPr lang="en-US" sz="3000" dirty="0"/>
          </a:p>
        </p:txBody>
      </p:sp>
      <p:sp>
        <p:nvSpPr>
          <p:cNvPr id="3" name="Shape 1"/>
          <p:cNvSpPr/>
          <p:nvPr/>
        </p:nvSpPr>
        <p:spPr>
          <a:xfrm>
            <a:off x="2802756" y="1024128"/>
            <a:ext cx="6583439" cy="36576"/>
          </a:xfrm>
          <a:prstGeom prst="rect">
            <a:avLst/>
          </a:prstGeom>
          <a:solidFill>
            <a:srgbClr val="FF9900"/>
          </a:solidFill>
          <a:ln/>
        </p:spPr>
      </p:sp>
      <p:sp>
        <p:nvSpPr>
          <p:cNvPr id="4" name="Shape 2"/>
          <p:cNvSpPr/>
          <p:nvPr/>
        </p:nvSpPr>
        <p:spPr>
          <a:xfrm>
            <a:off x="1152144" y="1554480"/>
            <a:ext cx="640080" cy="640080"/>
          </a:xfrm>
          <a:prstGeom prst="ellipse">
            <a:avLst/>
          </a:prstGeom>
          <a:solidFill>
            <a:srgbClr val="FF9900"/>
          </a:solidFill>
          <a:ln/>
        </p:spPr>
      </p:sp>
      <p:sp>
        <p:nvSpPr>
          <p:cNvPr id="5" name="Text 3"/>
          <p:cNvSpPr/>
          <p:nvPr/>
        </p:nvSpPr>
        <p:spPr>
          <a:xfrm>
            <a:off x="1152144"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6" name="Shape 4"/>
          <p:cNvSpPr/>
          <p:nvPr/>
        </p:nvSpPr>
        <p:spPr>
          <a:xfrm>
            <a:off x="1792224" y="1874520"/>
            <a:ext cx="1170432" cy="0"/>
          </a:xfrm>
          <a:prstGeom prst="line">
            <a:avLst/>
          </a:prstGeom>
          <a:noFill/>
          <a:ln w="19050">
            <a:solidFill>
              <a:srgbClr val="CCCCCC"/>
            </a:solidFill>
            <a:prstDash val="dash"/>
          </a:ln>
        </p:spPr>
      </p:sp>
      <p:sp>
        <p:nvSpPr>
          <p:cNvPr id="7" name="Shape 5"/>
          <p:cNvSpPr/>
          <p:nvPr/>
        </p:nvSpPr>
        <p:spPr>
          <a:xfrm>
            <a:off x="566928"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58368"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Encode</a:t>
            </a:r>
            <a:endParaRPr lang="en-US" sz="1500" dirty="0"/>
          </a:p>
        </p:txBody>
      </p:sp>
      <p:sp>
        <p:nvSpPr>
          <p:cNvPr id="9" name="Text 7"/>
          <p:cNvSpPr/>
          <p:nvPr/>
        </p:nvSpPr>
        <p:spPr>
          <a:xfrm>
            <a:off x="685800"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LLaMA (text) / CLIP (image) turn item content into dense embeddings</a:t>
            </a:r>
            <a:endParaRPr lang="en-US" sz="1200" dirty="0"/>
          </a:p>
        </p:txBody>
      </p:sp>
      <p:sp>
        <p:nvSpPr>
          <p:cNvPr id="10" name="Shape 8"/>
          <p:cNvSpPr/>
          <p:nvPr/>
        </p:nvSpPr>
        <p:spPr>
          <a:xfrm>
            <a:off x="2962656" y="1554480"/>
            <a:ext cx="640080" cy="640080"/>
          </a:xfrm>
          <a:prstGeom prst="ellipse">
            <a:avLst/>
          </a:prstGeom>
          <a:solidFill>
            <a:srgbClr val="FF9900"/>
          </a:solidFill>
          <a:ln/>
        </p:spPr>
      </p:sp>
      <p:sp>
        <p:nvSpPr>
          <p:cNvPr id="11" name="Text 9"/>
          <p:cNvSpPr/>
          <p:nvPr/>
        </p:nvSpPr>
        <p:spPr>
          <a:xfrm>
            <a:off x="2962656"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2" name="Shape 10"/>
          <p:cNvSpPr/>
          <p:nvPr/>
        </p:nvSpPr>
        <p:spPr>
          <a:xfrm>
            <a:off x="3602736" y="1874520"/>
            <a:ext cx="1170432" cy="0"/>
          </a:xfrm>
          <a:prstGeom prst="line">
            <a:avLst/>
          </a:prstGeom>
          <a:noFill/>
          <a:ln w="19050">
            <a:solidFill>
              <a:srgbClr val="CCCCCC"/>
            </a:solidFill>
            <a:prstDash val="dash"/>
          </a:ln>
        </p:spPr>
      </p:sp>
      <p:sp>
        <p:nvSpPr>
          <p:cNvPr id="13" name="Shape 11"/>
          <p:cNvSpPr/>
          <p:nvPr/>
        </p:nvSpPr>
        <p:spPr>
          <a:xfrm>
            <a:off x="2377440"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2468880"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Quantize</a:t>
            </a:r>
            <a:endParaRPr lang="en-US" sz="1500" dirty="0"/>
          </a:p>
        </p:txBody>
      </p:sp>
      <p:sp>
        <p:nvSpPr>
          <p:cNvPr id="15" name="Text 13"/>
          <p:cNvSpPr/>
          <p:nvPr/>
        </p:nvSpPr>
        <p:spPr>
          <a:xfrm>
            <a:off x="2496312"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RQ-VAE compresses embeddings into a 4-level token tuple</a:t>
            </a:r>
            <a:endParaRPr lang="en-US" sz="1200" dirty="0"/>
          </a:p>
        </p:txBody>
      </p:sp>
      <p:sp>
        <p:nvSpPr>
          <p:cNvPr id="16" name="Shape 14"/>
          <p:cNvSpPr/>
          <p:nvPr/>
        </p:nvSpPr>
        <p:spPr>
          <a:xfrm>
            <a:off x="4773168" y="1554480"/>
            <a:ext cx="640080" cy="640080"/>
          </a:xfrm>
          <a:prstGeom prst="ellipse">
            <a:avLst/>
          </a:prstGeom>
          <a:solidFill>
            <a:srgbClr val="FF9900"/>
          </a:solidFill>
          <a:ln/>
        </p:spPr>
      </p:sp>
      <p:sp>
        <p:nvSpPr>
          <p:cNvPr id="17" name="Text 15"/>
          <p:cNvSpPr/>
          <p:nvPr/>
        </p:nvSpPr>
        <p:spPr>
          <a:xfrm>
            <a:off x="4773168"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8" name="Shape 16"/>
          <p:cNvSpPr/>
          <p:nvPr/>
        </p:nvSpPr>
        <p:spPr>
          <a:xfrm>
            <a:off x="5413248" y="1874520"/>
            <a:ext cx="1170432" cy="0"/>
          </a:xfrm>
          <a:prstGeom prst="line">
            <a:avLst/>
          </a:prstGeom>
          <a:noFill/>
          <a:ln w="19050">
            <a:solidFill>
              <a:srgbClr val="CCCCCC"/>
            </a:solidFill>
            <a:prstDash val="dash"/>
          </a:ln>
        </p:spPr>
      </p:sp>
      <p:sp>
        <p:nvSpPr>
          <p:cNvPr id="19" name="Shape 17"/>
          <p:cNvSpPr/>
          <p:nvPr/>
        </p:nvSpPr>
        <p:spPr>
          <a:xfrm>
            <a:off x="4187952"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4279392"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Enrich</a:t>
            </a:r>
            <a:endParaRPr lang="en-US" sz="1500" dirty="0"/>
          </a:p>
        </p:txBody>
      </p:sp>
      <p:sp>
        <p:nvSpPr>
          <p:cNvPr id="21" name="Text 19"/>
          <p:cNvSpPr/>
          <p:nvPr/>
        </p:nvSpPr>
        <p:spPr>
          <a:xfrm>
            <a:off x="4306824"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NIG + AIG + QLA tasks teach tokens rich semantic meaning</a:t>
            </a:r>
            <a:endParaRPr lang="en-US" sz="1200" dirty="0"/>
          </a:p>
        </p:txBody>
      </p:sp>
      <p:sp>
        <p:nvSpPr>
          <p:cNvPr id="22" name="Shape 20"/>
          <p:cNvSpPr/>
          <p:nvPr/>
        </p:nvSpPr>
        <p:spPr>
          <a:xfrm>
            <a:off x="6583680" y="1554480"/>
            <a:ext cx="640080" cy="640080"/>
          </a:xfrm>
          <a:prstGeom prst="ellipse">
            <a:avLst/>
          </a:prstGeom>
          <a:solidFill>
            <a:srgbClr val="FF9900"/>
          </a:solidFill>
          <a:ln/>
        </p:spPr>
      </p:sp>
      <p:sp>
        <p:nvSpPr>
          <p:cNvPr id="23" name="Text 21"/>
          <p:cNvSpPr/>
          <p:nvPr/>
        </p:nvSpPr>
        <p:spPr>
          <a:xfrm>
            <a:off x="6583680"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24" name="Shape 22"/>
          <p:cNvSpPr/>
          <p:nvPr/>
        </p:nvSpPr>
        <p:spPr>
          <a:xfrm>
            <a:off x="7223760" y="1874520"/>
            <a:ext cx="1170432" cy="0"/>
          </a:xfrm>
          <a:prstGeom prst="line">
            <a:avLst/>
          </a:prstGeom>
          <a:noFill/>
          <a:ln w="19050">
            <a:solidFill>
              <a:srgbClr val="CCCCCC"/>
            </a:solidFill>
            <a:prstDash val="dash"/>
          </a:ln>
        </p:spPr>
      </p:sp>
      <p:sp>
        <p:nvSpPr>
          <p:cNvPr id="25" name="Shape 23"/>
          <p:cNvSpPr/>
          <p:nvPr/>
        </p:nvSpPr>
        <p:spPr>
          <a:xfrm>
            <a:off x="5998464"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26" name="Text 24"/>
          <p:cNvSpPr/>
          <p:nvPr/>
        </p:nvSpPr>
        <p:spPr>
          <a:xfrm>
            <a:off x="6089904"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Pre-train</a:t>
            </a:r>
            <a:endParaRPr lang="en-US" sz="1500" dirty="0"/>
          </a:p>
        </p:txBody>
      </p:sp>
      <p:sp>
        <p:nvSpPr>
          <p:cNvPr id="27" name="Text 25"/>
          <p:cNvSpPr/>
          <p:nvPr/>
        </p:nvSpPr>
        <p:spPr>
          <a:xfrm>
            <a:off x="6117336"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Learn general recommendation knowledge on 6 source domains</a:t>
            </a:r>
            <a:endParaRPr lang="en-US" sz="1200" dirty="0"/>
          </a:p>
        </p:txBody>
      </p:sp>
      <p:sp>
        <p:nvSpPr>
          <p:cNvPr id="28" name="Shape 26"/>
          <p:cNvSpPr/>
          <p:nvPr/>
        </p:nvSpPr>
        <p:spPr>
          <a:xfrm>
            <a:off x="8394192" y="1554480"/>
            <a:ext cx="640080" cy="640080"/>
          </a:xfrm>
          <a:prstGeom prst="ellipse">
            <a:avLst/>
          </a:prstGeom>
          <a:solidFill>
            <a:srgbClr val="FF9900"/>
          </a:solidFill>
          <a:ln/>
        </p:spPr>
      </p:sp>
      <p:sp>
        <p:nvSpPr>
          <p:cNvPr id="29" name="Text 27"/>
          <p:cNvSpPr/>
          <p:nvPr/>
        </p:nvSpPr>
        <p:spPr>
          <a:xfrm>
            <a:off x="8394192"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5</a:t>
            </a:r>
            <a:endParaRPr lang="en-US" sz="2400" dirty="0"/>
          </a:p>
        </p:txBody>
      </p:sp>
      <p:sp>
        <p:nvSpPr>
          <p:cNvPr id="30" name="Shape 28"/>
          <p:cNvSpPr/>
          <p:nvPr/>
        </p:nvSpPr>
        <p:spPr>
          <a:xfrm>
            <a:off x="9034272" y="1874520"/>
            <a:ext cx="1170432" cy="0"/>
          </a:xfrm>
          <a:prstGeom prst="line">
            <a:avLst/>
          </a:prstGeom>
          <a:noFill/>
          <a:ln w="19050">
            <a:solidFill>
              <a:srgbClr val="CCCCCC"/>
            </a:solidFill>
            <a:prstDash val="dash"/>
          </a:ln>
        </p:spPr>
      </p:sp>
      <p:sp>
        <p:nvSpPr>
          <p:cNvPr id="31" name="Shape 29"/>
          <p:cNvSpPr/>
          <p:nvPr/>
        </p:nvSpPr>
        <p:spPr>
          <a:xfrm>
            <a:off x="7808976"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32" name="Text 30"/>
          <p:cNvSpPr/>
          <p:nvPr/>
        </p:nvSpPr>
        <p:spPr>
          <a:xfrm>
            <a:off x="7900416"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Fine-tune</a:t>
            </a:r>
            <a:endParaRPr lang="en-US" sz="1500" dirty="0"/>
          </a:p>
        </p:txBody>
      </p:sp>
      <p:sp>
        <p:nvSpPr>
          <p:cNvPr id="33" name="Text 31"/>
          <p:cNvSpPr/>
          <p:nvPr/>
        </p:nvSpPr>
        <p:spPr>
          <a:xfrm>
            <a:off x="7927848"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Specialize on the target domain using all QLG tasks</a:t>
            </a:r>
            <a:endParaRPr lang="en-US" sz="1200" dirty="0"/>
          </a:p>
        </p:txBody>
      </p:sp>
      <p:sp>
        <p:nvSpPr>
          <p:cNvPr id="34" name="Shape 32"/>
          <p:cNvSpPr/>
          <p:nvPr/>
        </p:nvSpPr>
        <p:spPr>
          <a:xfrm>
            <a:off x="10204704" y="1554480"/>
            <a:ext cx="640080" cy="640080"/>
          </a:xfrm>
          <a:prstGeom prst="ellipse">
            <a:avLst/>
          </a:prstGeom>
          <a:solidFill>
            <a:srgbClr val="FF9900"/>
          </a:solidFill>
          <a:ln/>
        </p:spPr>
      </p:sp>
      <p:sp>
        <p:nvSpPr>
          <p:cNvPr id="35" name="Text 33"/>
          <p:cNvSpPr/>
          <p:nvPr/>
        </p:nvSpPr>
        <p:spPr>
          <a:xfrm>
            <a:off x="10204704" y="1554480"/>
            <a:ext cx="640080" cy="640080"/>
          </a:xfrm>
          <a:prstGeom prst="rect">
            <a:avLst/>
          </a:prstGeom>
          <a:noFill/>
          <a:ln/>
        </p:spPr>
        <p:txBody>
          <a:bodyPr wrap="square"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6</a:t>
            </a:r>
            <a:endParaRPr lang="en-US" sz="2400" dirty="0"/>
          </a:p>
        </p:txBody>
      </p:sp>
      <p:sp>
        <p:nvSpPr>
          <p:cNvPr id="36" name="Shape 34"/>
          <p:cNvSpPr/>
          <p:nvPr/>
        </p:nvSpPr>
        <p:spPr>
          <a:xfrm>
            <a:off x="9619488" y="2514600"/>
            <a:ext cx="1673352" cy="2148840"/>
          </a:xfrm>
          <a:prstGeom prst="roundRect">
            <a:avLst>
              <a:gd name="adj" fmla="val 327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37" name="Text 35"/>
          <p:cNvSpPr/>
          <p:nvPr/>
        </p:nvSpPr>
        <p:spPr>
          <a:xfrm>
            <a:off x="9710928" y="2651760"/>
            <a:ext cx="1490472" cy="365760"/>
          </a:xfrm>
          <a:prstGeom prst="rect">
            <a:avLst/>
          </a:prstGeom>
          <a:noFill/>
          <a:ln/>
        </p:spPr>
        <p:txBody>
          <a:bodyPr wrap="square" rtlCol="0" anchor="ctr"/>
          <a:lstStyle/>
          <a:p>
            <a:pPr algn="ctr" indent="0" marL="0">
              <a:buNone/>
            </a:pPr>
            <a:r>
              <a:rPr lang="en-US" sz="1500" b="1" dirty="0">
                <a:solidFill>
                  <a:srgbClr val="A62C2C"/>
                </a:solidFill>
                <a:latin typeface="Calibri" pitchFamily="34" charset="0"/>
                <a:ea typeface="Calibri" pitchFamily="34" charset="-122"/>
                <a:cs typeface="Calibri" pitchFamily="34" charset="-120"/>
              </a:rPr>
              <a:t>Recommend</a:t>
            </a:r>
            <a:endParaRPr lang="en-US" sz="1500" dirty="0"/>
          </a:p>
        </p:txBody>
      </p:sp>
      <p:sp>
        <p:nvSpPr>
          <p:cNvPr id="38" name="Text 36"/>
          <p:cNvSpPr/>
          <p:nvPr/>
        </p:nvSpPr>
        <p:spPr>
          <a:xfrm>
            <a:off x="9738360" y="3063240"/>
            <a:ext cx="1435608" cy="1463040"/>
          </a:xfrm>
          <a:prstGeom prst="rect">
            <a:avLst/>
          </a:prstGeom>
          <a:noFill/>
          <a:ln/>
        </p:spPr>
        <p:txBody>
          <a:bodyPr wrap="square" rtlCol="0" anchor="ctr"/>
          <a:lstStyle/>
          <a:p>
            <a:pPr algn="ctr" indent="0" marL="0">
              <a:lnSpc>
                <a:spcPct val="120000"/>
              </a:lnSpc>
              <a:buNone/>
            </a:pPr>
            <a:r>
              <a:rPr lang="en-US" sz="1200" dirty="0">
                <a:solidFill>
                  <a:srgbClr val="666666"/>
                </a:solidFill>
                <a:latin typeface="Calibri" pitchFamily="34" charset="0"/>
                <a:ea typeface="Calibri" pitchFamily="34" charset="-122"/>
                <a:cs typeface="Calibri" pitchFamily="34" charset="-120"/>
              </a:rPr>
              <a:t>Beam search + re-ranking produce the final item list</a:t>
            </a:r>
            <a:endParaRPr lang="en-US" sz="1200" dirty="0"/>
          </a:p>
        </p:txBody>
      </p:sp>
      <p:sp>
        <p:nvSpPr>
          <p:cNvPr id="39" name="Text 37"/>
          <p:cNvSpPr/>
          <p:nvPr/>
        </p:nvSpPr>
        <p:spPr>
          <a:xfrm>
            <a:off x="640080" y="5029200"/>
            <a:ext cx="10881360" cy="548640"/>
          </a:xfrm>
          <a:prstGeom prst="rect">
            <a:avLst/>
          </a:prstGeom>
          <a:noFill/>
          <a:ln/>
        </p:spPr>
        <p:txBody>
          <a:bodyPr wrap="square" rtlCol="0" anchor="ctr"/>
          <a:lstStyle/>
          <a:p>
            <a:pPr indent="0" marL="0">
              <a:buNone/>
            </a:pPr>
            <a:r>
              <a:rPr lang="en-US" sz="1400" i="1" dirty="0">
                <a:solidFill>
                  <a:srgbClr val="222222"/>
                </a:solidFill>
                <a:latin typeface="Calibri" pitchFamily="34" charset="0"/>
                <a:ea typeface="Calibri" pitchFamily="34" charset="-122"/>
                <a:cs typeface="Calibri" pitchFamily="34" charset="-120"/>
              </a:rPr>
              <a:t>★  The tokens act as a universal recommendation "language" — just like a shared vocabulary lets NLP models transfer knowledge across tasks.</a:t>
            </a:r>
            <a:endParaRPr lang="en-US" sz="1400" dirty="0"/>
          </a:p>
        </p:txBody>
      </p:sp>
      <p:sp>
        <p:nvSpPr>
          <p:cNvPr id="40" name="Text 38"/>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5</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The Quantitative Translator: Content → Tokens</a:t>
            </a:r>
            <a:endParaRPr lang="en-US" sz="2600" dirty="0"/>
          </a:p>
        </p:txBody>
      </p:sp>
      <p:sp>
        <p:nvSpPr>
          <p:cNvPr id="3" name="Shape 1"/>
          <p:cNvSpPr/>
          <p:nvPr/>
        </p:nvSpPr>
        <p:spPr>
          <a:xfrm>
            <a:off x="1735956" y="1024128"/>
            <a:ext cx="8717039" cy="36576"/>
          </a:xfrm>
          <a:prstGeom prst="rect">
            <a:avLst/>
          </a:prstGeom>
          <a:solidFill>
            <a:srgbClr val="FF9900"/>
          </a:solidFill>
          <a:ln/>
        </p:spPr>
      </p:sp>
      <p:sp>
        <p:nvSpPr>
          <p:cNvPr id="4" name="Text 2"/>
          <p:cNvSpPr/>
          <p:nvPr/>
        </p:nvSpPr>
        <p:spPr>
          <a:xfrm>
            <a:off x="640080" y="1325880"/>
            <a:ext cx="10881360" cy="502920"/>
          </a:xfrm>
          <a:prstGeom prst="rect">
            <a:avLst/>
          </a:prstGeom>
          <a:noFill/>
          <a:ln/>
        </p:spPr>
        <p:txBody>
          <a:bodyPr wrap="square" rtlCol="0" anchor="ctr"/>
          <a:lstStyle/>
          <a:p>
            <a:pPr indent="0" marL="0">
              <a:lnSpc>
                <a:spcPct val="120000"/>
              </a:lnSpc>
              <a:buNone/>
            </a:pPr>
            <a:r>
              <a:rPr lang="en-US" sz="1400" dirty="0">
                <a:solidFill>
                  <a:srgbClr val="222222"/>
                </a:solidFill>
                <a:latin typeface="Calibri" pitchFamily="34" charset="0"/>
                <a:ea typeface="Calibri" pitchFamily="34" charset="-122"/>
                <a:cs typeface="Calibri" pitchFamily="34" charset="-120"/>
              </a:rPr>
              <a:t>RQ-VAE (Residual-Quantized VAE) turns one dense embedding into a tuple of discrete codewords by quantizing residuals, level after level.</a:t>
            </a:r>
            <a:endParaRPr lang="en-US" sz="1400" dirty="0"/>
          </a:p>
        </p:txBody>
      </p:sp>
      <p:sp>
        <p:nvSpPr>
          <p:cNvPr id="5" name="Shape 3"/>
          <p:cNvSpPr/>
          <p:nvPr/>
        </p:nvSpPr>
        <p:spPr>
          <a:xfrm>
            <a:off x="640080" y="2057400"/>
            <a:ext cx="1783080" cy="1051560"/>
          </a:xfrm>
          <a:prstGeom prst="roundRect">
            <a:avLst>
              <a:gd name="adj" fmla="val 5217"/>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40080" y="2057400"/>
            <a:ext cx="1783080" cy="1051560"/>
          </a:xfrm>
          <a:prstGeom prst="rect">
            <a:avLst/>
          </a:prstGeom>
          <a:noFill/>
          <a:ln/>
        </p:spPr>
        <p:txBody>
          <a:bodyPr wrap="square" rtlCol="0" anchor="ctr"/>
          <a:lstStyle/>
          <a:p>
            <a:pPr algn="ctr" indent="0" marL="0">
              <a:lnSpc>
                <a:spcPct val="110000"/>
              </a:lnSpc>
              <a:buNone/>
            </a:pPr>
            <a:r>
              <a:rPr lang="en-US" sz="1250" b="1" dirty="0">
                <a:solidFill>
                  <a:srgbClr val="222222"/>
                </a:solidFill>
                <a:latin typeface="Calibri" pitchFamily="34" charset="0"/>
                <a:ea typeface="Calibri" pitchFamily="34" charset="-122"/>
                <a:cs typeface="Calibri" pitchFamily="34" charset="-120"/>
              </a:rPr>
              <a:t>z (embedding)</a:t>
            </a:r>
            <a:endParaRPr lang="en-US" sz="1250" dirty="0"/>
          </a:p>
        </p:txBody>
      </p:sp>
      <p:sp>
        <p:nvSpPr>
          <p:cNvPr id="7" name="Text 5"/>
          <p:cNvSpPr/>
          <p:nvPr/>
        </p:nvSpPr>
        <p:spPr>
          <a:xfrm>
            <a:off x="2395728" y="2057400"/>
            <a:ext cx="320040" cy="1051560"/>
          </a:xfrm>
          <a:prstGeom prst="rect">
            <a:avLst/>
          </a:prstGeom>
          <a:noFill/>
          <a:ln/>
        </p:spPr>
        <p:txBody>
          <a:bodyPr wrap="square" rtlCol="0" anchor="ctr"/>
          <a:lstStyle/>
          <a:p>
            <a:pPr algn="ctr" indent="0" marL="0">
              <a:buNone/>
            </a:pPr>
            <a:r>
              <a:rPr lang="en-US" sz="1950" b="1" dirty="0">
                <a:solidFill>
                  <a:srgbClr val="FF9900"/>
                </a:solidFill>
                <a:latin typeface="Calibri" pitchFamily="34" charset="0"/>
                <a:ea typeface="Calibri" pitchFamily="34" charset="-122"/>
                <a:cs typeface="Calibri" pitchFamily="34" charset="-120"/>
              </a:rPr>
              <a:t>→</a:t>
            </a:r>
            <a:endParaRPr lang="en-US" sz="1950" dirty="0"/>
          </a:p>
        </p:txBody>
      </p:sp>
      <p:sp>
        <p:nvSpPr>
          <p:cNvPr id="8" name="Shape 6"/>
          <p:cNvSpPr/>
          <p:nvPr/>
        </p:nvSpPr>
        <p:spPr>
          <a:xfrm>
            <a:off x="2651760" y="2057400"/>
            <a:ext cx="1783080" cy="1051560"/>
          </a:xfrm>
          <a:prstGeom prst="roundRect">
            <a:avLst>
              <a:gd name="adj" fmla="val 521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2651760" y="2057400"/>
            <a:ext cx="1783080" cy="1051560"/>
          </a:xfrm>
          <a:prstGeom prst="rect">
            <a:avLst/>
          </a:prstGeom>
          <a:noFill/>
          <a:ln/>
        </p:spPr>
        <p:txBody>
          <a:bodyPr wrap="square" rtlCol="0" anchor="ctr"/>
          <a:lstStyle/>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Level 1</a:t>
            </a:r>
            <a:endParaRPr lang="en-US" sz="1250" dirty="0"/>
          </a:p>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nearest code</a:t>
            </a:r>
            <a:endParaRPr lang="en-US" sz="1250" dirty="0"/>
          </a:p>
        </p:txBody>
      </p:sp>
      <p:sp>
        <p:nvSpPr>
          <p:cNvPr id="10" name="Text 8"/>
          <p:cNvSpPr/>
          <p:nvPr/>
        </p:nvSpPr>
        <p:spPr>
          <a:xfrm>
            <a:off x="4407408" y="2057400"/>
            <a:ext cx="320040" cy="1051560"/>
          </a:xfrm>
          <a:prstGeom prst="rect">
            <a:avLst/>
          </a:prstGeom>
          <a:noFill/>
          <a:ln/>
        </p:spPr>
        <p:txBody>
          <a:bodyPr wrap="square" rtlCol="0" anchor="ctr"/>
          <a:lstStyle/>
          <a:p>
            <a:pPr algn="ctr" indent="0" marL="0">
              <a:buNone/>
            </a:pPr>
            <a:r>
              <a:rPr lang="en-US" sz="1950" b="1" dirty="0">
                <a:solidFill>
                  <a:srgbClr val="FF9900"/>
                </a:solidFill>
                <a:latin typeface="Calibri" pitchFamily="34" charset="0"/>
                <a:ea typeface="Calibri" pitchFamily="34" charset="-122"/>
                <a:cs typeface="Calibri" pitchFamily="34" charset="-120"/>
              </a:rPr>
              <a:t>→</a:t>
            </a:r>
            <a:endParaRPr lang="en-US" sz="1950" dirty="0"/>
          </a:p>
        </p:txBody>
      </p:sp>
      <p:sp>
        <p:nvSpPr>
          <p:cNvPr id="11" name="Shape 9"/>
          <p:cNvSpPr/>
          <p:nvPr/>
        </p:nvSpPr>
        <p:spPr>
          <a:xfrm>
            <a:off x="4663440" y="2057400"/>
            <a:ext cx="1783080" cy="1051560"/>
          </a:xfrm>
          <a:prstGeom prst="roundRect">
            <a:avLst>
              <a:gd name="adj" fmla="val 521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4663440" y="2057400"/>
            <a:ext cx="1783080" cy="1051560"/>
          </a:xfrm>
          <a:prstGeom prst="rect">
            <a:avLst/>
          </a:prstGeom>
          <a:noFill/>
          <a:ln/>
        </p:spPr>
        <p:txBody>
          <a:bodyPr wrap="square" rtlCol="0" anchor="ctr"/>
          <a:lstStyle/>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Level 2</a:t>
            </a:r>
            <a:endParaRPr lang="en-US" sz="1250" dirty="0"/>
          </a:p>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residual quant.</a:t>
            </a:r>
            <a:endParaRPr lang="en-US" sz="1250" dirty="0"/>
          </a:p>
        </p:txBody>
      </p:sp>
      <p:sp>
        <p:nvSpPr>
          <p:cNvPr id="13" name="Text 11"/>
          <p:cNvSpPr/>
          <p:nvPr/>
        </p:nvSpPr>
        <p:spPr>
          <a:xfrm>
            <a:off x="6419088" y="2057400"/>
            <a:ext cx="320040" cy="1051560"/>
          </a:xfrm>
          <a:prstGeom prst="rect">
            <a:avLst/>
          </a:prstGeom>
          <a:noFill/>
          <a:ln/>
        </p:spPr>
        <p:txBody>
          <a:bodyPr wrap="square" rtlCol="0" anchor="ctr"/>
          <a:lstStyle/>
          <a:p>
            <a:pPr algn="ctr" indent="0" marL="0">
              <a:buNone/>
            </a:pPr>
            <a:r>
              <a:rPr lang="en-US" sz="1950" b="1" dirty="0">
                <a:solidFill>
                  <a:srgbClr val="FF9900"/>
                </a:solidFill>
                <a:latin typeface="Calibri" pitchFamily="34" charset="0"/>
                <a:ea typeface="Calibri" pitchFamily="34" charset="-122"/>
                <a:cs typeface="Calibri" pitchFamily="34" charset="-120"/>
              </a:rPr>
              <a:t>→</a:t>
            </a:r>
            <a:endParaRPr lang="en-US" sz="1950" dirty="0"/>
          </a:p>
        </p:txBody>
      </p:sp>
      <p:sp>
        <p:nvSpPr>
          <p:cNvPr id="14" name="Shape 12"/>
          <p:cNvSpPr/>
          <p:nvPr/>
        </p:nvSpPr>
        <p:spPr>
          <a:xfrm>
            <a:off x="6675120" y="2057400"/>
            <a:ext cx="1783080" cy="1051560"/>
          </a:xfrm>
          <a:prstGeom prst="roundRect">
            <a:avLst>
              <a:gd name="adj" fmla="val 521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6675120" y="2057400"/>
            <a:ext cx="1783080" cy="1051560"/>
          </a:xfrm>
          <a:prstGeom prst="rect">
            <a:avLst/>
          </a:prstGeom>
          <a:noFill/>
          <a:ln/>
        </p:spPr>
        <p:txBody>
          <a:bodyPr wrap="square" rtlCol="0" anchor="ctr"/>
          <a:lstStyle/>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Level 3</a:t>
            </a:r>
            <a:endParaRPr lang="en-US" sz="1250" dirty="0"/>
          </a:p>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residual quant.</a:t>
            </a:r>
            <a:endParaRPr lang="en-US" sz="1250" dirty="0"/>
          </a:p>
        </p:txBody>
      </p:sp>
      <p:sp>
        <p:nvSpPr>
          <p:cNvPr id="16" name="Text 14"/>
          <p:cNvSpPr/>
          <p:nvPr/>
        </p:nvSpPr>
        <p:spPr>
          <a:xfrm>
            <a:off x="8430768" y="2057400"/>
            <a:ext cx="320040" cy="1051560"/>
          </a:xfrm>
          <a:prstGeom prst="rect">
            <a:avLst/>
          </a:prstGeom>
          <a:noFill/>
          <a:ln/>
        </p:spPr>
        <p:txBody>
          <a:bodyPr wrap="square" rtlCol="0" anchor="ctr"/>
          <a:lstStyle/>
          <a:p>
            <a:pPr algn="ctr" indent="0" marL="0">
              <a:buNone/>
            </a:pPr>
            <a:r>
              <a:rPr lang="en-US" sz="1950" b="1" dirty="0">
                <a:solidFill>
                  <a:srgbClr val="FF9900"/>
                </a:solidFill>
                <a:latin typeface="Calibri" pitchFamily="34" charset="0"/>
                <a:ea typeface="Calibri" pitchFamily="34" charset="-122"/>
                <a:cs typeface="Calibri" pitchFamily="34" charset="-120"/>
              </a:rPr>
              <a:t>→</a:t>
            </a:r>
            <a:endParaRPr lang="en-US" sz="1950" dirty="0"/>
          </a:p>
        </p:txBody>
      </p:sp>
      <p:sp>
        <p:nvSpPr>
          <p:cNvPr id="17" name="Shape 15"/>
          <p:cNvSpPr/>
          <p:nvPr/>
        </p:nvSpPr>
        <p:spPr>
          <a:xfrm>
            <a:off x="8686800" y="2057400"/>
            <a:ext cx="1783080" cy="1051560"/>
          </a:xfrm>
          <a:prstGeom prst="roundRect">
            <a:avLst>
              <a:gd name="adj" fmla="val 521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8" name="Text 16"/>
          <p:cNvSpPr/>
          <p:nvPr/>
        </p:nvSpPr>
        <p:spPr>
          <a:xfrm>
            <a:off x="8686800" y="2057400"/>
            <a:ext cx="1783080" cy="1051560"/>
          </a:xfrm>
          <a:prstGeom prst="rect">
            <a:avLst/>
          </a:prstGeom>
          <a:noFill/>
          <a:ln/>
        </p:spPr>
        <p:txBody>
          <a:bodyPr wrap="square" rtlCol="0" anchor="ctr"/>
          <a:lstStyle/>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Level 4</a:t>
            </a:r>
            <a:endParaRPr lang="en-US" sz="1250" dirty="0"/>
          </a:p>
          <a:p>
            <a:pPr algn="ctr" indent="0" marL="0">
              <a:lnSpc>
                <a:spcPct val="110000"/>
              </a:lnSpc>
              <a:buNone/>
            </a:pPr>
            <a:r>
              <a:rPr lang="en-US" sz="1250" dirty="0">
                <a:solidFill>
                  <a:srgbClr val="222222"/>
                </a:solidFill>
                <a:latin typeface="Calibri" pitchFamily="34" charset="0"/>
                <a:ea typeface="Calibri" pitchFamily="34" charset="-122"/>
                <a:cs typeface="Calibri" pitchFamily="34" charset="-120"/>
              </a:rPr>
              <a:t>residual quant.</a:t>
            </a:r>
            <a:endParaRPr lang="en-US" sz="1250" dirty="0"/>
          </a:p>
        </p:txBody>
      </p:sp>
      <p:sp>
        <p:nvSpPr>
          <p:cNvPr id="19" name="Text 17"/>
          <p:cNvSpPr/>
          <p:nvPr/>
        </p:nvSpPr>
        <p:spPr>
          <a:xfrm>
            <a:off x="640080" y="3337560"/>
            <a:ext cx="10881360" cy="502920"/>
          </a:xfrm>
          <a:prstGeom prst="rect">
            <a:avLst/>
          </a:prstGeom>
          <a:noFill/>
          <a:ln/>
        </p:spPr>
        <p:txBody>
          <a:bodyPr wrap="square" rtlCol="0" anchor="ctr"/>
          <a:lstStyle/>
          <a:p>
            <a:pPr indent="0" marL="0">
              <a:lnSpc>
                <a:spcPct val="120000"/>
              </a:lnSpc>
              <a:buNone/>
            </a:pPr>
            <a:r>
              <a:rPr lang="en-US" sz="1350" i="1" dirty="0">
                <a:solidFill>
                  <a:srgbClr val="666666"/>
                </a:solidFill>
                <a:latin typeface="Calibri" pitchFamily="34" charset="0"/>
                <a:ea typeface="Calibri" pitchFamily="34" charset="-122"/>
                <a:cs typeface="Calibri" pitchFamily="34" charset="-120"/>
              </a:rPr>
              <a:t>Residual step: at each level, pick nearest codeword cᵢ, then residual rᵢ₊₁ = rᵢ − v(cᵢ) feeds the next level. Final tokens = (c₁, c₂, c₃, c₄) e.g. (2, 3, 1, 6).</a:t>
            </a:r>
            <a:endParaRPr lang="en-US" sz="1350" dirty="0"/>
          </a:p>
        </p:txBody>
      </p:sp>
      <p:sp>
        <p:nvSpPr>
          <p:cNvPr id="20" name="Shape 18"/>
          <p:cNvSpPr/>
          <p:nvPr/>
        </p:nvSpPr>
        <p:spPr>
          <a:xfrm>
            <a:off x="640080" y="4069080"/>
            <a:ext cx="5257800" cy="1965960"/>
          </a:xfrm>
          <a:prstGeom prst="roundRect">
            <a:avLst>
              <a:gd name="adj" fmla="val 2791"/>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21" name="Text 19"/>
          <p:cNvSpPr/>
          <p:nvPr/>
        </p:nvSpPr>
        <p:spPr>
          <a:xfrm>
            <a:off x="914400" y="4206240"/>
            <a:ext cx="4709160" cy="365760"/>
          </a:xfrm>
          <a:prstGeom prst="rect">
            <a:avLst/>
          </a:prstGeom>
          <a:noFill/>
          <a:ln/>
        </p:spPr>
        <p:txBody>
          <a:bodyPr wrap="square" rtlCol="0" anchor="ctr"/>
          <a:lstStyle/>
          <a:p>
            <a:pPr indent="0" marL="0">
              <a:buNone/>
            </a:pPr>
            <a:r>
              <a:rPr lang="en-US" sz="1650" b="1" dirty="0">
                <a:solidFill>
                  <a:srgbClr val="A62C2C"/>
                </a:solidFill>
                <a:latin typeface="Calibri" pitchFamily="34" charset="0"/>
                <a:ea typeface="Calibri" pitchFamily="34" charset="-122"/>
                <a:cs typeface="Calibri" pitchFamily="34" charset="-120"/>
              </a:rPr>
              <a:t>Text Modality</a:t>
            </a:r>
            <a:endParaRPr lang="en-US" sz="1650" dirty="0"/>
          </a:p>
        </p:txBody>
      </p:sp>
      <p:sp>
        <p:nvSpPr>
          <p:cNvPr id="22" name="Text 20"/>
          <p:cNvSpPr/>
          <p:nvPr/>
        </p:nvSpPr>
        <p:spPr>
          <a:xfrm>
            <a:off x="914400" y="4617720"/>
            <a:ext cx="4709160" cy="320040"/>
          </a:xfrm>
          <a:prstGeom prst="rect">
            <a:avLst/>
          </a:prstGeom>
          <a:noFill/>
          <a:ln/>
        </p:spPr>
        <p:txBody>
          <a:bodyPr wrap="square" rtlCol="0" anchor="ctr"/>
          <a:lstStyle/>
          <a:p>
            <a:pPr indent="0" marL="0">
              <a:buNone/>
            </a:pPr>
            <a:r>
              <a:rPr lang="en-US" sz="1350" dirty="0">
                <a:solidFill>
                  <a:srgbClr val="222222"/>
                </a:solidFill>
                <a:latin typeface="Calibri" pitchFamily="34" charset="0"/>
                <a:ea typeface="Calibri" pitchFamily="34" charset="-122"/>
                <a:cs typeface="Calibri" pitchFamily="34" charset="-120"/>
              </a:rPr>
              <a:t>Encoder: LLaMA</a:t>
            </a:r>
            <a:endParaRPr lang="en-US" sz="1350" dirty="0"/>
          </a:p>
        </p:txBody>
      </p:sp>
      <p:sp>
        <p:nvSpPr>
          <p:cNvPr id="23" name="Text 21"/>
          <p:cNvSpPr/>
          <p:nvPr/>
        </p:nvSpPr>
        <p:spPr>
          <a:xfrm>
            <a:off x="914400" y="4937760"/>
            <a:ext cx="4709160" cy="320040"/>
          </a:xfrm>
          <a:prstGeom prst="rect">
            <a:avLst/>
          </a:prstGeom>
          <a:noFill/>
          <a:ln/>
        </p:spPr>
        <p:txBody>
          <a:bodyPr wrap="square" rtlCol="0" anchor="ctr"/>
          <a:lstStyle/>
          <a:p>
            <a:pPr indent="0" marL="0">
              <a:buNone/>
            </a:pPr>
            <a:r>
              <a:rPr lang="en-US" sz="1350" dirty="0">
                <a:solidFill>
                  <a:srgbClr val="222222"/>
                </a:solidFill>
                <a:latin typeface="Calibri" pitchFamily="34" charset="0"/>
                <a:ea typeface="Calibri" pitchFamily="34" charset="-122"/>
                <a:cs typeface="Calibri" pitchFamily="34" charset="-120"/>
              </a:rPr>
              <a:t>Codeword prefix: lowercase prefix</a:t>
            </a:r>
            <a:endParaRPr lang="en-US" sz="1350" dirty="0"/>
          </a:p>
        </p:txBody>
      </p:sp>
      <p:sp>
        <p:nvSpPr>
          <p:cNvPr id="24" name="Text 22"/>
          <p:cNvSpPr/>
          <p:nvPr/>
        </p:nvSpPr>
        <p:spPr>
          <a:xfrm>
            <a:off x="914400" y="5349240"/>
            <a:ext cx="4709160" cy="548640"/>
          </a:xfrm>
          <a:prstGeom prst="rect">
            <a:avLst/>
          </a:prstGeom>
          <a:noFill/>
          <a:ln/>
        </p:spPr>
        <p:txBody>
          <a:bodyPr wrap="square" rtlCol="0" anchor="ctr"/>
          <a:lstStyle/>
          <a:p>
            <a:pPr indent="0" marL="0">
              <a:buNone/>
            </a:pPr>
            <a:r>
              <a:rPr lang="en-US" sz="1750" b="1" dirty="0">
                <a:solidFill>
                  <a:srgbClr val="A62C2C"/>
                </a:solidFill>
                <a:latin typeface="Courier New" pitchFamily="34" charset="0"/>
                <a:ea typeface="Courier New" pitchFamily="34" charset="-122"/>
                <a:cs typeface="Courier New" pitchFamily="34" charset="-120"/>
              </a:rPr>
              <a:t>a_2  b_3  c_1  d_6</a:t>
            </a:r>
            <a:endParaRPr lang="en-US" sz="1750" dirty="0"/>
          </a:p>
        </p:txBody>
      </p:sp>
      <p:sp>
        <p:nvSpPr>
          <p:cNvPr id="25" name="Shape 23"/>
          <p:cNvSpPr/>
          <p:nvPr/>
        </p:nvSpPr>
        <p:spPr>
          <a:xfrm>
            <a:off x="6263640" y="4069080"/>
            <a:ext cx="5257800" cy="1965960"/>
          </a:xfrm>
          <a:prstGeom prst="roundRect">
            <a:avLst>
              <a:gd name="adj" fmla="val 2791"/>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26" name="Text 24"/>
          <p:cNvSpPr/>
          <p:nvPr/>
        </p:nvSpPr>
        <p:spPr>
          <a:xfrm>
            <a:off x="6537960" y="4206240"/>
            <a:ext cx="4709160" cy="365760"/>
          </a:xfrm>
          <a:prstGeom prst="rect">
            <a:avLst/>
          </a:prstGeom>
          <a:noFill/>
          <a:ln/>
        </p:spPr>
        <p:txBody>
          <a:bodyPr wrap="square" rtlCol="0" anchor="ctr"/>
          <a:lstStyle/>
          <a:p>
            <a:pPr indent="0" marL="0">
              <a:buNone/>
            </a:pPr>
            <a:r>
              <a:rPr lang="en-US" sz="1650" b="1" dirty="0">
                <a:solidFill>
                  <a:srgbClr val="A62C2C"/>
                </a:solidFill>
                <a:latin typeface="Calibri" pitchFamily="34" charset="0"/>
                <a:ea typeface="Calibri" pitchFamily="34" charset="-122"/>
                <a:cs typeface="Calibri" pitchFamily="34" charset="-120"/>
              </a:rPr>
              <a:t>Image Modality</a:t>
            </a:r>
            <a:endParaRPr lang="en-US" sz="1650" dirty="0"/>
          </a:p>
        </p:txBody>
      </p:sp>
      <p:sp>
        <p:nvSpPr>
          <p:cNvPr id="27" name="Text 25"/>
          <p:cNvSpPr/>
          <p:nvPr/>
        </p:nvSpPr>
        <p:spPr>
          <a:xfrm>
            <a:off x="6537960" y="4617720"/>
            <a:ext cx="4709160" cy="320040"/>
          </a:xfrm>
          <a:prstGeom prst="rect">
            <a:avLst/>
          </a:prstGeom>
          <a:noFill/>
          <a:ln/>
        </p:spPr>
        <p:txBody>
          <a:bodyPr wrap="square" rtlCol="0" anchor="ctr"/>
          <a:lstStyle/>
          <a:p>
            <a:pPr indent="0" marL="0">
              <a:buNone/>
            </a:pPr>
            <a:r>
              <a:rPr lang="en-US" sz="1350" dirty="0">
                <a:solidFill>
                  <a:srgbClr val="222222"/>
                </a:solidFill>
                <a:latin typeface="Calibri" pitchFamily="34" charset="0"/>
                <a:ea typeface="Calibri" pitchFamily="34" charset="-122"/>
                <a:cs typeface="Calibri" pitchFamily="34" charset="-120"/>
              </a:rPr>
              <a:t>Encoder: CLIP ViT-L/14</a:t>
            </a:r>
            <a:endParaRPr lang="en-US" sz="1350" dirty="0"/>
          </a:p>
        </p:txBody>
      </p:sp>
      <p:sp>
        <p:nvSpPr>
          <p:cNvPr id="28" name="Text 26"/>
          <p:cNvSpPr/>
          <p:nvPr/>
        </p:nvSpPr>
        <p:spPr>
          <a:xfrm>
            <a:off x="6537960" y="4937760"/>
            <a:ext cx="4709160" cy="320040"/>
          </a:xfrm>
          <a:prstGeom prst="rect">
            <a:avLst/>
          </a:prstGeom>
          <a:noFill/>
          <a:ln/>
        </p:spPr>
        <p:txBody>
          <a:bodyPr wrap="square" rtlCol="0" anchor="ctr"/>
          <a:lstStyle/>
          <a:p>
            <a:pPr indent="0" marL="0">
              <a:buNone/>
            </a:pPr>
            <a:r>
              <a:rPr lang="en-US" sz="1350" dirty="0">
                <a:solidFill>
                  <a:srgbClr val="222222"/>
                </a:solidFill>
                <a:latin typeface="Calibri" pitchFamily="34" charset="0"/>
                <a:ea typeface="Calibri" pitchFamily="34" charset="-122"/>
                <a:cs typeface="Calibri" pitchFamily="34" charset="-120"/>
              </a:rPr>
              <a:t>Codeword prefix: UPPERCASE prefix</a:t>
            </a:r>
            <a:endParaRPr lang="en-US" sz="1350" dirty="0"/>
          </a:p>
        </p:txBody>
      </p:sp>
      <p:sp>
        <p:nvSpPr>
          <p:cNvPr id="29" name="Text 27"/>
          <p:cNvSpPr/>
          <p:nvPr/>
        </p:nvSpPr>
        <p:spPr>
          <a:xfrm>
            <a:off x="6537960" y="5349240"/>
            <a:ext cx="4709160" cy="548640"/>
          </a:xfrm>
          <a:prstGeom prst="rect">
            <a:avLst/>
          </a:prstGeom>
          <a:noFill/>
          <a:ln/>
        </p:spPr>
        <p:txBody>
          <a:bodyPr wrap="square" rtlCol="0" anchor="ctr"/>
          <a:lstStyle/>
          <a:p>
            <a:pPr indent="0" marL="0">
              <a:buNone/>
            </a:pPr>
            <a:r>
              <a:rPr lang="en-US" sz="1750" b="1" dirty="0">
                <a:solidFill>
                  <a:srgbClr val="A62C2C"/>
                </a:solidFill>
                <a:latin typeface="Courier New" pitchFamily="34" charset="0"/>
                <a:ea typeface="Courier New" pitchFamily="34" charset="-122"/>
                <a:cs typeface="Courier New" pitchFamily="34" charset="-120"/>
              </a:rPr>
              <a:t>A_1  B_4  C_2  D_6</a:t>
            </a:r>
            <a:endParaRPr lang="en-US" sz="1750" dirty="0"/>
          </a:p>
        </p:txBody>
      </p:sp>
      <p:sp>
        <p:nvSpPr>
          <p:cNvPr id="30" name="Text 28"/>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6</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700" b="1" dirty="0">
                <a:solidFill>
                  <a:srgbClr val="000000"/>
                </a:solidFill>
                <a:latin typeface="Calibri" pitchFamily="34" charset="0"/>
                <a:ea typeface="Calibri" pitchFamily="34" charset="-122"/>
                <a:cs typeface="Calibri" pitchFamily="34" charset="-120"/>
              </a:rPr>
              <a:t>Training Objective: The Loss Functions</a:t>
            </a:r>
            <a:endParaRPr lang="en-US" sz="2700" dirty="0"/>
          </a:p>
        </p:txBody>
      </p:sp>
      <p:sp>
        <p:nvSpPr>
          <p:cNvPr id="3" name="Shape 1"/>
          <p:cNvSpPr/>
          <p:nvPr/>
        </p:nvSpPr>
        <p:spPr>
          <a:xfrm>
            <a:off x="2248020" y="1024128"/>
            <a:ext cx="7692911" cy="36576"/>
          </a:xfrm>
          <a:prstGeom prst="rect">
            <a:avLst/>
          </a:prstGeom>
          <a:solidFill>
            <a:srgbClr val="FF9900"/>
          </a:solidFill>
          <a:ln/>
        </p:spPr>
      </p:sp>
      <p:sp>
        <p:nvSpPr>
          <p:cNvPr id="4" name="Text 2"/>
          <p:cNvSpPr/>
          <p:nvPr/>
        </p:nvSpPr>
        <p:spPr>
          <a:xfrm>
            <a:off x="640080" y="1325880"/>
            <a:ext cx="10881360" cy="457200"/>
          </a:xfrm>
          <a:prstGeom prst="rect">
            <a:avLst/>
          </a:prstGeom>
          <a:noFill/>
          <a:ln/>
        </p:spPr>
        <p:txBody>
          <a:bodyPr wrap="square" rtlCol="0" anchor="ctr"/>
          <a:lstStyle/>
          <a:p>
            <a:pPr indent="0" marL="0">
              <a:lnSpc>
                <a:spcPct val="120000"/>
              </a:lnSpc>
              <a:buNone/>
            </a:pPr>
            <a:r>
              <a:rPr lang="en-US" sz="1400" dirty="0">
                <a:solidFill>
                  <a:srgbClr val="222222"/>
                </a:solidFill>
                <a:latin typeface="Calibri" pitchFamily="34" charset="0"/>
                <a:ea typeface="Calibri" pitchFamily="34" charset="-122"/>
                <a:cs typeface="Calibri" pitchFamily="34" charset="-120"/>
              </a:rPr>
              <a:t>Two separate objectives are optimized — one to build the vocabulary (RQ-VAE), one to generate recommendations (Transformer).</a:t>
            </a:r>
            <a:endParaRPr lang="en-US" sz="1400" dirty="0"/>
          </a:p>
        </p:txBody>
      </p:sp>
      <p:sp>
        <p:nvSpPr>
          <p:cNvPr id="5" name="Shape 3"/>
          <p:cNvSpPr/>
          <p:nvPr/>
        </p:nvSpPr>
        <p:spPr>
          <a:xfrm>
            <a:off x="640080" y="1920240"/>
            <a:ext cx="5257800" cy="3520440"/>
          </a:xfrm>
          <a:prstGeom prst="roundRect">
            <a:avLst>
              <a:gd name="adj" fmla="val 155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914400" y="2103120"/>
            <a:ext cx="4709160" cy="41148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① RQ-VAE Loss  (builds the tokens)</a:t>
            </a:r>
            <a:endParaRPr lang="en-US" sz="1550" dirty="0"/>
          </a:p>
        </p:txBody>
      </p:sp>
      <p:sp>
        <p:nvSpPr>
          <p:cNvPr id="7" name="Text 5"/>
          <p:cNvSpPr/>
          <p:nvPr/>
        </p:nvSpPr>
        <p:spPr>
          <a:xfrm>
            <a:off x="914400" y="2560320"/>
            <a:ext cx="4709160" cy="365760"/>
          </a:xfrm>
          <a:prstGeom prst="rect">
            <a:avLst/>
          </a:prstGeom>
          <a:noFill/>
          <a:ln/>
        </p:spPr>
        <p:txBody>
          <a:bodyPr wrap="square" rtlCol="0" anchor="ctr"/>
          <a:lstStyle/>
          <a:p>
            <a:pPr indent="0" marL="0">
              <a:buNone/>
            </a:pPr>
            <a:r>
              <a:rPr lang="en-US" sz="1550" b="1" dirty="0">
                <a:solidFill>
                  <a:srgbClr val="222222"/>
                </a:solidFill>
                <a:latin typeface="Courier New" pitchFamily="34" charset="0"/>
                <a:ea typeface="Courier New" pitchFamily="34" charset="-122"/>
                <a:cs typeface="Courier New" pitchFamily="34" charset="-120"/>
              </a:rPr>
              <a:t>L(h) = L_recon + L_rqvae</a:t>
            </a:r>
            <a:endParaRPr lang="en-US" sz="1550" dirty="0"/>
          </a:p>
        </p:txBody>
      </p:sp>
      <p:sp>
        <p:nvSpPr>
          <p:cNvPr id="8" name="Text 6"/>
          <p:cNvSpPr/>
          <p:nvPr/>
        </p:nvSpPr>
        <p:spPr>
          <a:xfrm>
            <a:off x="914400" y="3063240"/>
            <a:ext cx="4709160" cy="2286000"/>
          </a:xfrm>
          <a:prstGeom prst="rect">
            <a:avLst/>
          </a:prstGeom>
          <a:noFill/>
          <a:ln/>
        </p:spPr>
        <p:txBody>
          <a:bodyPr wrap="square" rtlCol="0" anchor="t"/>
          <a:lstStyle/>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L_recon = ‖h − ĥ‖²  — how well the decoded output ĥ reconstructs the original item embedding h</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L_rqvae = Σ‖sg[rᵢ] − vᵢ‖² + β‖rᵢ − sg[vᵢ]‖²  — pulls residuals and codewords together (sg = stop-gradient, β = weighting coefficient)</a:t>
            </a:r>
            <a:endParaRPr lang="en-US" sz="1300" dirty="0"/>
          </a:p>
        </p:txBody>
      </p:sp>
      <p:sp>
        <p:nvSpPr>
          <p:cNvPr id="9" name="Shape 7"/>
          <p:cNvSpPr/>
          <p:nvPr/>
        </p:nvSpPr>
        <p:spPr>
          <a:xfrm>
            <a:off x="6263640" y="1920240"/>
            <a:ext cx="5257800" cy="3520440"/>
          </a:xfrm>
          <a:prstGeom prst="roundRect">
            <a:avLst>
              <a:gd name="adj" fmla="val 1558"/>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0" name="Text 8"/>
          <p:cNvSpPr/>
          <p:nvPr/>
        </p:nvSpPr>
        <p:spPr>
          <a:xfrm>
            <a:off x="6537960" y="2103120"/>
            <a:ext cx="4709160" cy="54864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② Seq2Seq Generation Loss  (drives recommendation)</a:t>
            </a:r>
            <a:endParaRPr lang="en-US" sz="1550" dirty="0"/>
          </a:p>
        </p:txBody>
      </p:sp>
      <p:sp>
        <p:nvSpPr>
          <p:cNvPr id="11" name="Text 9"/>
          <p:cNvSpPr/>
          <p:nvPr/>
        </p:nvSpPr>
        <p:spPr>
          <a:xfrm>
            <a:off x="6537960" y="2697480"/>
            <a:ext cx="4709160" cy="365760"/>
          </a:xfrm>
          <a:prstGeom prst="rect">
            <a:avLst/>
          </a:prstGeom>
          <a:noFill/>
          <a:ln/>
        </p:spPr>
        <p:txBody>
          <a:bodyPr wrap="square" rtlCol="0" anchor="ctr"/>
          <a:lstStyle/>
          <a:p>
            <a:pPr indent="0" marL="0">
              <a:buNone/>
            </a:pPr>
            <a:r>
              <a:rPr lang="en-US" sz="1550" b="1" dirty="0">
                <a:solidFill>
                  <a:srgbClr val="222222"/>
                </a:solidFill>
                <a:latin typeface="Courier New" pitchFamily="34" charset="0"/>
                <a:ea typeface="Courier New" pitchFamily="34" charset="-122"/>
                <a:cs typeface="Courier New" pitchFamily="34" charset="-120"/>
              </a:rPr>
              <a:t>L_θ = − Σⱼ log Pθ(Yⱼ | Y&lt;ⱼ, X)</a:t>
            </a:r>
            <a:endParaRPr lang="en-US" sz="1550" dirty="0"/>
          </a:p>
        </p:txBody>
      </p:sp>
      <p:sp>
        <p:nvSpPr>
          <p:cNvPr id="12" name="Text 10"/>
          <p:cNvSpPr/>
          <p:nvPr/>
        </p:nvSpPr>
        <p:spPr>
          <a:xfrm>
            <a:off x="6537960" y="3200400"/>
            <a:ext cx="4709160" cy="2103120"/>
          </a:xfrm>
          <a:prstGeom prst="rect">
            <a:avLst/>
          </a:prstGeom>
          <a:noFill/>
          <a:ln/>
        </p:spPr>
        <p:txBody>
          <a:bodyPr wrap="square" rtlCol="0" anchor="t"/>
          <a:lstStyle/>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Standard negative log-likelihood — same loss style used to train language models like GPT</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X = encoder's input sequence (task prompt + source tokens)</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Yⱼ = the j-th target token being predicted, given everything generated so far</a:t>
            </a:r>
            <a:endParaRPr lang="en-US" sz="13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7</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800" b="1" dirty="0">
                <a:solidFill>
                  <a:srgbClr val="000000"/>
                </a:solidFill>
                <a:latin typeface="Calibri" pitchFamily="34" charset="0"/>
                <a:ea typeface="Calibri" pitchFamily="34" charset="-122"/>
                <a:cs typeface="Calibri" pitchFamily="34" charset="-120"/>
              </a:rPr>
              <a:t>Token Vocabulary — A Worked Example</a:t>
            </a:r>
            <a:endParaRPr lang="en-US" sz="2800" dirty="0"/>
          </a:p>
        </p:txBody>
      </p:sp>
      <p:sp>
        <p:nvSpPr>
          <p:cNvPr id="3" name="Shape 1"/>
          <p:cNvSpPr/>
          <p:nvPr/>
        </p:nvSpPr>
        <p:spPr>
          <a:xfrm>
            <a:off x="2411596" y="1024128"/>
            <a:ext cx="7365759" cy="36576"/>
          </a:xfrm>
          <a:prstGeom prst="rect">
            <a:avLst/>
          </a:prstGeom>
          <a:solidFill>
            <a:srgbClr val="FF9900"/>
          </a:solidFill>
          <a:ln/>
        </p:spPr>
      </p:sp>
      <p:sp>
        <p:nvSpPr>
          <p:cNvPr id="4" name="Shape 2"/>
          <p:cNvSpPr/>
          <p:nvPr/>
        </p:nvSpPr>
        <p:spPr>
          <a:xfrm>
            <a:off x="640080" y="1371600"/>
            <a:ext cx="10881360" cy="1051560"/>
          </a:xfrm>
          <a:prstGeom prst="roundRect">
            <a:avLst>
              <a:gd name="adj" fmla="val 521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508760"/>
            <a:ext cx="10332720" cy="365760"/>
          </a:xfrm>
          <a:prstGeom prst="rect">
            <a:avLst/>
          </a:prstGeom>
          <a:noFill/>
          <a:ln/>
        </p:spPr>
        <p:txBody>
          <a:bodyPr wrap="square" rtlCol="0" anchor="ctr"/>
          <a:lstStyle/>
          <a:p>
            <a:pPr indent="0" marL="0">
              <a:buNone/>
            </a:pPr>
            <a:r>
              <a:rPr lang="en-US" sz="1650" b="1" dirty="0">
                <a:solidFill>
                  <a:srgbClr val="222222"/>
                </a:solidFill>
                <a:latin typeface="Calibri" pitchFamily="34" charset="0"/>
                <a:ea typeface="Calibri" pitchFamily="34" charset="-122"/>
                <a:cs typeface="Calibri" pitchFamily="34" charset="-120"/>
              </a:rPr>
              <a:t>Item:  </a:t>
            </a:r>
            <a:pPr indent="0" marL="0">
              <a:buNone/>
            </a:pPr>
            <a:r>
              <a:rPr lang="en-US" sz="1650" i="1" dirty="0">
                <a:solidFill>
                  <a:srgbClr val="A62C2C"/>
                </a:solidFill>
                <a:latin typeface="Calibri" pitchFamily="34" charset="0"/>
                <a:ea typeface="Calibri" pitchFamily="34" charset="-122"/>
                <a:cs typeface="Calibri" pitchFamily="34" charset="-120"/>
              </a:rPr>
              <a:t>“Sengoku Basara: The Last Party”</a:t>
            </a:r>
            <a:endParaRPr lang="en-US" sz="1650" dirty="0"/>
          </a:p>
        </p:txBody>
      </p:sp>
      <p:sp>
        <p:nvSpPr>
          <p:cNvPr id="6" name="Text 4"/>
          <p:cNvSpPr/>
          <p:nvPr/>
        </p:nvSpPr>
        <p:spPr>
          <a:xfrm>
            <a:off x="914400" y="1874520"/>
            <a:ext cx="10332720" cy="365760"/>
          </a:xfrm>
          <a:prstGeom prst="rect">
            <a:avLst/>
          </a:prstGeom>
          <a:noFill/>
          <a:ln/>
        </p:spPr>
        <p:txBody>
          <a:bodyPr wrap="square" rtlCol="0" anchor="ctr"/>
          <a:lstStyle/>
          <a:p>
            <a:pPr indent="0" marL="0">
              <a:buNone/>
            </a:pPr>
            <a:r>
              <a:rPr lang="en-US" sz="1350" dirty="0">
                <a:solidFill>
                  <a:srgbClr val="666666"/>
                </a:solidFill>
                <a:latin typeface="Calibri" pitchFamily="34" charset="0"/>
                <a:ea typeface="Calibri" pitchFamily="34" charset="-122"/>
                <a:cs typeface="Calibri" pitchFamily="34" charset="-120"/>
              </a:rPr>
              <a:t>Encoded through the text / image quantitative translators, it becomes:</a:t>
            </a:r>
            <a:endParaRPr lang="en-US" sz="1350" dirty="0"/>
          </a:p>
        </p:txBody>
      </p:sp>
      <p:sp>
        <p:nvSpPr>
          <p:cNvPr id="7" name="Shape 5"/>
          <p:cNvSpPr/>
          <p:nvPr/>
        </p:nvSpPr>
        <p:spPr>
          <a:xfrm>
            <a:off x="640080" y="2606040"/>
            <a:ext cx="10881360" cy="960120"/>
          </a:xfrm>
          <a:prstGeom prst="roundRect">
            <a:avLst>
              <a:gd name="adj" fmla="val 5714"/>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914400" y="2697480"/>
            <a:ext cx="5029200" cy="365760"/>
          </a:xfrm>
          <a:prstGeom prst="rect">
            <a:avLst/>
          </a:prstGeom>
          <a:noFill/>
          <a:ln/>
        </p:spPr>
        <p:txBody>
          <a:bodyPr wrap="square" rtlCol="0" anchor="ctr"/>
          <a:lstStyle/>
          <a:p>
            <a:pPr indent="0" marL="0">
              <a:buNone/>
            </a:pPr>
            <a:r>
              <a:rPr lang="en-US" sz="1450" b="1" dirty="0">
                <a:solidFill>
                  <a:srgbClr val="222222"/>
                </a:solidFill>
                <a:latin typeface="Calibri" pitchFamily="34" charset="0"/>
                <a:ea typeface="Calibri" pitchFamily="34" charset="-122"/>
                <a:cs typeface="Calibri" pitchFamily="34" charset="-120"/>
              </a:rPr>
              <a:t>Text Quantitative Language</a:t>
            </a:r>
            <a:endParaRPr lang="en-US" sz="1450" dirty="0"/>
          </a:p>
        </p:txBody>
      </p:sp>
      <p:sp>
        <p:nvSpPr>
          <p:cNvPr id="9" name="Text 7"/>
          <p:cNvSpPr/>
          <p:nvPr/>
        </p:nvSpPr>
        <p:spPr>
          <a:xfrm>
            <a:off x="914400" y="3063240"/>
            <a:ext cx="7315200" cy="411480"/>
          </a:xfrm>
          <a:prstGeom prst="rect">
            <a:avLst/>
          </a:prstGeom>
          <a:noFill/>
          <a:ln/>
        </p:spPr>
        <p:txBody>
          <a:bodyPr wrap="square" rtlCol="0" anchor="ctr"/>
          <a:lstStyle/>
          <a:p>
            <a:pPr indent="0" marL="0">
              <a:buNone/>
            </a:pPr>
            <a:r>
              <a:rPr lang="en-US" sz="1850" b="1" dirty="0">
                <a:solidFill>
                  <a:srgbClr val="A62C2C"/>
                </a:solidFill>
                <a:latin typeface="Courier New" pitchFamily="34" charset="0"/>
                <a:ea typeface="Courier New" pitchFamily="34" charset="-122"/>
                <a:cs typeface="Courier New" pitchFamily="34" charset="-120"/>
              </a:rPr>
              <a:t>&lt;a_2&gt;  &lt;b_3&gt;  &lt;c_1&gt;  &lt;d_6&gt;</a:t>
            </a:r>
            <a:endParaRPr lang="en-US" sz="1850" dirty="0"/>
          </a:p>
        </p:txBody>
      </p:sp>
      <p:sp>
        <p:nvSpPr>
          <p:cNvPr id="10" name="Shape 8"/>
          <p:cNvSpPr/>
          <p:nvPr/>
        </p:nvSpPr>
        <p:spPr>
          <a:xfrm>
            <a:off x="640080" y="3749040"/>
            <a:ext cx="10881360" cy="960120"/>
          </a:xfrm>
          <a:prstGeom prst="roundRect">
            <a:avLst>
              <a:gd name="adj" fmla="val 5714"/>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914400" y="3840480"/>
            <a:ext cx="5029200" cy="365760"/>
          </a:xfrm>
          <a:prstGeom prst="rect">
            <a:avLst/>
          </a:prstGeom>
          <a:noFill/>
          <a:ln/>
        </p:spPr>
        <p:txBody>
          <a:bodyPr wrap="square" rtlCol="0" anchor="ctr"/>
          <a:lstStyle/>
          <a:p>
            <a:pPr indent="0" marL="0">
              <a:buNone/>
            </a:pPr>
            <a:r>
              <a:rPr lang="en-US" sz="1450" b="1" dirty="0">
                <a:solidFill>
                  <a:srgbClr val="222222"/>
                </a:solidFill>
                <a:latin typeface="Calibri" pitchFamily="34" charset="0"/>
                <a:ea typeface="Calibri" pitchFamily="34" charset="-122"/>
                <a:cs typeface="Calibri" pitchFamily="34" charset="-120"/>
              </a:rPr>
              <a:t>Image Quantitative Language</a:t>
            </a:r>
            <a:endParaRPr lang="en-US" sz="1450" dirty="0"/>
          </a:p>
        </p:txBody>
      </p:sp>
      <p:sp>
        <p:nvSpPr>
          <p:cNvPr id="12" name="Text 10"/>
          <p:cNvSpPr/>
          <p:nvPr/>
        </p:nvSpPr>
        <p:spPr>
          <a:xfrm>
            <a:off x="914400" y="4206240"/>
            <a:ext cx="7315200" cy="411480"/>
          </a:xfrm>
          <a:prstGeom prst="rect">
            <a:avLst/>
          </a:prstGeom>
          <a:noFill/>
          <a:ln/>
        </p:spPr>
        <p:txBody>
          <a:bodyPr wrap="square" rtlCol="0" anchor="ctr"/>
          <a:lstStyle/>
          <a:p>
            <a:pPr indent="0" marL="0">
              <a:buNone/>
            </a:pPr>
            <a:r>
              <a:rPr lang="en-US" sz="1850" b="1" dirty="0">
                <a:solidFill>
                  <a:srgbClr val="A62C2C"/>
                </a:solidFill>
                <a:latin typeface="Courier New" pitchFamily="34" charset="0"/>
                <a:ea typeface="Courier New" pitchFamily="34" charset="-122"/>
                <a:cs typeface="Courier New" pitchFamily="34" charset="-120"/>
              </a:rPr>
              <a:t>&lt;A_1&gt;  &lt;B_4&gt;  &lt;C_2&gt;  &lt;D_6&gt;</a:t>
            </a:r>
            <a:endParaRPr lang="en-US" sz="1850" dirty="0"/>
          </a:p>
        </p:txBody>
      </p:sp>
      <p:sp>
        <p:nvSpPr>
          <p:cNvPr id="13" name="Shape 11"/>
          <p:cNvSpPr/>
          <p:nvPr/>
        </p:nvSpPr>
        <p:spPr>
          <a:xfrm>
            <a:off x="640080" y="4983480"/>
            <a:ext cx="10881360" cy="1417320"/>
          </a:xfrm>
          <a:prstGeom prst="roundRect">
            <a:avLst>
              <a:gd name="adj" fmla="val 3871"/>
            </a:avLst>
          </a:prstGeom>
          <a:solidFill>
            <a:srgbClr val="F7F7F7"/>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914400" y="5120640"/>
            <a:ext cx="10332720" cy="1188720"/>
          </a:xfrm>
          <a:prstGeom prst="rect">
            <a:avLst/>
          </a:prstGeom>
          <a:noFill/>
          <a:ln/>
        </p:spPr>
        <p:txBody>
          <a:bodyPr wrap="square" rtlCol="0" anchor="ctr"/>
          <a:lstStyle/>
          <a:p>
            <a:pPr indent="0" marL="0">
              <a:lnSpc>
                <a:spcPct val="135000"/>
              </a:lnSpc>
              <a:buNone/>
            </a:pPr>
            <a:r>
              <a:rPr lang="en-US" sz="1400" b="1" dirty="0">
                <a:solidFill>
                  <a:srgbClr val="A62C2C"/>
                </a:solidFill>
                <a:latin typeface="Calibri" pitchFamily="34" charset="0"/>
                <a:ea typeface="Calibri" pitchFamily="34" charset="-122"/>
                <a:cs typeface="Calibri" pitchFamily="34" charset="-120"/>
              </a:rPr>
              <a:t>a / A </a:t>
            </a:r>
            <a:pPr indent="0" marL="0">
              <a:lnSpc>
                <a:spcPct val="135000"/>
              </a:lnSpc>
              <a:buNone/>
            </a:pPr>
            <a:r>
              <a:rPr lang="en-US" sz="1400" dirty="0">
                <a:solidFill>
                  <a:srgbClr val="222222"/>
                </a:solidFill>
                <a:latin typeface="Calibri" pitchFamily="34" charset="0"/>
                <a:ea typeface="Calibri" pitchFamily="34" charset="-122"/>
                <a:cs typeface="Calibri" pitchFamily="34" charset="-120"/>
              </a:rPr>
              <a:t>= level-1 codebook  •  </a:t>
            </a:r>
            <a:pPr indent="0" marL="0">
              <a:lnSpc>
                <a:spcPct val="135000"/>
              </a:lnSpc>
              <a:buNone/>
            </a:pPr>
            <a:r>
              <a:rPr lang="en-US" sz="1400" b="1" dirty="0">
                <a:solidFill>
                  <a:srgbClr val="A62C2C"/>
                </a:solidFill>
                <a:latin typeface="Calibri" pitchFamily="34" charset="0"/>
                <a:ea typeface="Calibri" pitchFamily="34" charset="-122"/>
                <a:cs typeface="Calibri" pitchFamily="34" charset="-120"/>
              </a:rPr>
              <a:t>d / D </a:t>
            </a:r>
            <a:pPr indent="0" marL="0">
              <a:lnSpc>
                <a:spcPct val="135000"/>
              </a:lnSpc>
              <a:buNone/>
            </a:pPr>
            <a:r>
              <a:rPr lang="en-US" sz="1400" dirty="0">
                <a:solidFill>
                  <a:srgbClr val="222222"/>
                </a:solidFill>
                <a:latin typeface="Calibri" pitchFamily="34" charset="0"/>
                <a:ea typeface="Calibri" pitchFamily="34" charset="-122"/>
                <a:cs typeface="Calibri" pitchFamily="34" charset="-120"/>
              </a:rPr>
              <a:t>= level-4 codebook  •  lowercase = text, UPPERCASE = image
</a:t>
            </a:r>
            <a:pPr indent="0" marL="0">
              <a:lnSpc>
                <a:spcPct val="135000"/>
              </a:lnSpc>
              <a:buNone/>
            </a:pPr>
            <a:r>
              <a:rPr lang="en-US" sz="1400" b="1" dirty="0">
                <a:solidFill>
                  <a:srgbClr val="222222"/>
                </a:solidFill>
                <a:latin typeface="Calibri" pitchFamily="34" charset="0"/>
                <a:ea typeface="Calibri" pitchFamily="34" charset="-122"/>
                <a:cs typeface="Calibri" pitchFamily="34" charset="-120"/>
              </a:rPr>
              <a:t>Vocabulary size = 2LK </a:t>
            </a:r>
            <a:pPr indent="0" marL="0">
              <a:lnSpc>
                <a:spcPct val="135000"/>
              </a:lnSpc>
              <a:buNone/>
            </a:pPr>
            <a:r>
              <a:rPr lang="en-US" sz="1400" dirty="0">
                <a:solidFill>
                  <a:srgbClr val="222222"/>
                </a:solidFill>
                <a:latin typeface="Calibri" pitchFamily="34" charset="0"/>
                <a:ea typeface="Calibri" pitchFamily="34" charset="-122"/>
                <a:cs typeface="Calibri" pitchFamily="34" charset="-120"/>
              </a:rPr>
              <a:t>(L levels × K codewords, × 2 modalities)  →  can uniquely represent up to Kᴸ items, no manual IDs needed.</a:t>
            </a:r>
            <a:endParaRPr lang="en-US" sz="1400" dirty="0"/>
          </a:p>
        </p:txBody>
      </p:sp>
      <p:sp>
        <p:nvSpPr>
          <p:cNvPr id="15" name="Text 13"/>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8</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Handling Item Collisions</a:t>
            </a:r>
            <a:endParaRPr lang="en-US" sz="3000" dirty="0"/>
          </a:p>
        </p:txBody>
      </p:sp>
      <p:sp>
        <p:nvSpPr>
          <p:cNvPr id="3" name="Shape 1"/>
          <p:cNvSpPr/>
          <p:nvPr/>
        </p:nvSpPr>
        <p:spPr>
          <a:xfrm>
            <a:off x="3336156" y="1024128"/>
            <a:ext cx="5516639" cy="36576"/>
          </a:xfrm>
          <a:prstGeom prst="rect">
            <a:avLst/>
          </a:prstGeom>
          <a:solidFill>
            <a:srgbClr val="FF9900"/>
          </a:solidFill>
          <a:ln/>
        </p:spPr>
      </p:sp>
      <p:sp>
        <p:nvSpPr>
          <p:cNvPr id="4" name="Text 2"/>
          <p:cNvSpPr/>
          <p:nvPr/>
        </p:nvSpPr>
        <p:spPr>
          <a:xfrm>
            <a:off x="640080" y="1371600"/>
            <a:ext cx="10881360" cy="457200"/>
          </a:xfrm>
          <a:prstGeom prst="rect">
            <a:avLst/>
          </a:prstGeom>
          <a:noFill/>
          <a:ln/>
        </p:spPr>
        <p:txBody>
          <a:bodyPr wrap="square" rtlCol="0" anchor="ctr"/>
          <a:lstStyle/>
          <a:p>
            <a:pPr indent="0" marL="0">
              <a:buNone/>
            </a:pPr>
            <a:r>
              <a:rPr lang="en-US" sz="1450" dirty="0">
                <a:solidFill>
                  <a:srgbClr val="222222"/>
                </a:solidFill>
                <a:latin typeface="Calibri" pitchFamily="34" charset="0"/>
                <a:ea typeface="Calibri" pitchFamily="34" charset="-122"/>
                <a:cs typeface="Calibri" pitchFamily="34" charset="-120"/>
              </a:rPr>
              <a:t>Problem: two different items can end up with the exact same token sequence — a “collision.”</a:t>
            </a:r>
            <a:endParaRPr lang="en-US" sz="1450" dirty="0"/>
          </a:p>
        </p:txBody>
      </p:sp>
      <p:sp>
        <p:nvSpPr>
          <p:cNvPr id="5" name="Shape 3"/>
          <p:cNvSpPr/>
          <p:nvPr/>
        </p:nvSpPr>
        <p:spPr>
          <a:xfrm>
            <a:off x="640080" y="2011680"/>
            <a:ext cx="5257800" cy="2880360"/>
          </a:xfrm>
          <a:prstGeom prst="roundRect">
            <a:avLst>
              <a:gd name="adj" fmla="val 1905"/>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914400" y="2194560"/>
            <a:ext cx="4709160" cy="41148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Prior Approaches (TIGER, P5)</a:t>
            </a:r>
            <a:endParaRPr lang="en-US" sz="1600" dirty="0"/>
          </a:p>
        </p:txBody>
      </p:sp>
      <p:sp>
        <p:nvSpPr>
          <p:cNvPr id="7" name="Text 5"/>
          <p:cNvSpPr/>
          <p:nvPr/>
        </p:nvSpPr>
        <p:spPr>
          <a:xfrm>
            <a:off x="914400" y="2697480"/>
            <a:ext cx="4709160" cy="205740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Append an extra identifier digit after the item tokens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That extra digit is semantically unrelated — breaks the meaning of the language</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LC-Rec adds a uniform-distribution constraint, but still can't fully resolve collisions when content is identical</a:t>
            </a:r>
            <a:endParaRPr lang="en-US" sz="1350" dirty="0"/>
          </a:p>
        </p:txBody>
      </p:sp>
      <p:sp>
        <p:nvSpPr>
          <p:cNvPr id="8" name="Shape 6"/>
          <p:cNvSpPr/>
          <p:nvPr/>
        </p:nvSpPr>
        <p:spPr>
          <a:xfrm>
            <a:off x="6263640" y="2011680"/>
            <a:ext cx="5257800" cy="2880360"/>
          </a:xfrm>
          <a:prstGeom prst="roundRect">
            <a:avLst>
              <a:gd name="adj" fmla="val 1905"/>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537960" y="2194560"/>
            <a:ext cx="4709160" cy="41148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  MQL4GRec's Fix</a:t>
            </a:r>
            <a:endParaRPr lang="en-US" sz="1600" dirty="0"/>
          </a:p>
        </p:txBody>
      </p:sp>
      <p:sp>
        <p:nvSpPr>
          <p:cNvPr id="10" name="Text 8"/>
          <p:cNvSpPr/>
          <p:nvPr/>
        </p:nvSpPr>
        <p:spPr>
          <a:xfrm>
            <a:off x="6537960" y="2697480"/>
            <a:ext cx="4709160" cy="205740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Measure distance between residual vectors and codeword vectors at every level</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Sort colliding items by their closest match at the last level</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Reassign the nearest available token first, working backward through levels if needed</a:t>
            </a:r>
            <a:endParaRPr lang="en-US" sz="1350" dirty="0"/>
          </a:p>
        </p:txBody>
      </p:sp>
      <p:sp>
        <p:nvSpPr>
          <p:cNvPr id="11" name="Shape 9"/>
          <p:cNvSpPr/>
          <p:nvPr/>
        </p:nvSpPr>
        <p:spPr>
          <a:xfrm>
            <a:off x="640080" y="5166360"/>
            <a:ext cx="10881360" cy="1051560"/>
          </a:xfrm>
          <a:prstGeom prst="roundRect">
            <a:avLst>
              <a:gd name="adj" fmla="val 5217"/>
            </a:avLst>
          </a:prstGeom>
          <a:solidFill>
            <a:srgbClr val="EEEEEE"/>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914400" y="5303520"/>
            <a:ext cx="10332720" cy="822960"/>
          </a:xfrm>
          <a:prstGeom prst="rect">
            <a:avLst/>
          </a:prstGeom>
          <a:noFill/>
          <a:ln/>
        </p:spPr>
        <p:txBody>
          <a:bodyPr wrap="square" rtlCol="0" anchor="ctr"/>
          <a:lstStyle/>
          <a:p>
            <a:pPr indent="0" marL="0">
              <a:buNone/>
            </a:pPr>
            <a:r>
              <a:rPr lang="en-US" sz="1400" b="1" i="1" dirty="0">
                <a:solidFill>
                  <a:srgbClr val="222222"/>
                </a:solidFill>
                <a:latin typeface="Calibri" pitchFamily="34" charset="0"/>
                <a:ea typeface="Calibri" pitchFamily="34" charset="-122"/>
                <a:cs typeface="Calibri" pitchFamily="34" charset="-120"/>
              </a:rPr>
              <a:t>Result: fewer forced/meaningless IDs, fairer evaluation, and no inflated metrics from unresolved collisions.</a:t>
            </a:r>
            <a:endParaRPr lang="en-US" sz="14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9</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600" b="1" dirty="0">
                <a:solidFill>
                  <a:srgbClr val="000000"/>
                </a:solidFill>
                <a:latin typeface="Calibri" pitchFamily="34" charset="0"/>
                <a:ea typeface="Calibri" pitchFamily="34" charset="-122"/>
                <a:cs typeface="Calibri" pitchFamily="34" charset="-120"/>
              </a:rPr>
              <a:t>Quantitative Language Generation (QLG) Tasks</a:t>
            </a:r>
            <a:endParaRPr lang="en-US" sz="2600" dirty="0"/>
          </a:p>
        </p:txBody>
      </p:sp>
      <p:sp>
        <p:nvSpPr>
          <p:cNvPr id="3" name="Shape 1"/>
          <p:cNvSpPr/>
          <p:nvPr/>
        </p:nvSpPr>
        <p:spPr>
          <a:xfrm>
            <a:off x="1828412" y="1024128"/>
            <a:ext cx="8532127" cy="36576"/>
          </a:xfrm>
          <a:prstGeom prst="rect">
            <a:avLst/>
          </a:prstGeom>
          <a:solidFill>
            <a:srgbClr val="FF9900"/>
          </a:solidFill>
          <a:ln/>
        </p:spPr>
      </p:sp>
      <p:sp>
        <p:nvSpPr>
          <p:cNvPr id="4" name="Shape 2"/>
          <p:cNvSpPr/>
          <p:nvPr/>
        </p:nvSpPr>
        <p:spPr>
          <a:xfrm>
            <a:off x="640080" y="1463040"/>
            <a:ext cx="3502152" cy="3794760"/>
          </a:xfrm>
          <a:prstGeom prst="roundRect">
            <a:avLst>
              <a:gd name="adj" fmla="val 156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868680" y="1691640"/>
            <a:ext cx="3044952" cy="365760"/>
          </a:xfrm>
          <a:prstGeom prst="roundRect">
            <a:avLst>
              <a:gd name="adj" fmla="val 15000"/>
            </a:avLst>
          </a:prstGeom>
          <a:solidFill>
            <a:srgbClr val="FF9900"/>
          </a:solidFill>
          <a:ln/>
        </p:spPr>
      </p:sp>
      <p:sp>
        <p:nvSpPr>
          <p:cNvPr id="6" name="Text 4"/>
          <p:cNvSpPr/>
          <p:nvPr/>
        </p:nvSpPr>
        <p:spPr>
          <a:xfrm>
            <a:off x="868680" y="1691640"/>
            <a:ext cx="3044952" cy="365760"/>
          </a:xfrm>
          <a:prstGeom prst="rect">
            <a:avLst/>
          </a:prstGeom>
          <a:noFill/>
          <a:ln/>
        </p:spPr>
        <p:txBody>
          <a:bodyPr wrap="square"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*_0 *_1 *_2</a:t>
            </a:r>
            <a:endParaRPr lang="en-US" sz="1250" dirty="0"/>
          </a:p>
        </p:txBody>
      </p:sp>
      <p:sp>
        <p:nvSpPr>
          <p:cNvPr id="7" name="Text 5"/>
          <p:cNvSpPr/>
          <p:nvPr/>
        </p:nvSpPr>
        <p:spPr>
          <a:xfrm>
            <a:off x="868680" y="2194560"/>
            <a:ext cx="3044952" cy="502920"/>
          </a:xfrm>
          <a:prstGeom prst="rect">
            <a:avLst/>
          </a:prstGeom>
          <a:noFill/>
          <a:ln/>
        </p:spPr>
        <p:txBody>
          <a:bodyPr wrap="square" rtlCol="0" anchor="ctr"/>
          <a:lstStyle/>
          <a:p>
            <a:pPr algn="ctr" indent="0" marL="0">
              <a:buNone/>
            </a:pPr>
            <a:r>
              <a:rPr lang="en-US" sz="2400" b="1" dirty="0">
                <a:solidFill>
                  <a:srgbClr val="A62C2C"/>
                </a:solidFill>
                <a:latin typeface="Calibri" pitchFamily="34" charset="0"/>
                <a:ea typeface="Calibri" pitchFamily="34" charset="-122"/>
                <a:cs typeface="Calibri" pitchFamily="34" charset="-120"/>
              </a:rPr>
              <a:t>NIG</a:t>
            </a:r>
            <a:endParaRPr lang="en-US" sz="2400" dirty="0"/>
          </a:p>
        </p:txBody>
      </p:sp>
      <p:sp>
        <p:nvSpPr>
          <p:cNvPr id="8" name="Text 6"/>
          <p:cNvSpPr/>
          <p:nvPr/>
        </p:nvSpPr>
        <p:spPr>
          <a:xfrm>
            <a:off x="868680" y="2697480"/>
            <a:ext cx="3044952" cy="457200"/>
          </a:xfrm>
          <a:prstGeom prst="rect">
            <a:avLst/>
          </a:prstGeom>
          <a:noFill/>
          <a:ln/>
        </p:spPr>
        <p:txBody>
          <a:bodyPr wrap="square" rtlCol="0" anchor="ctr"/>
          <a:lstStyle/>
          <a:p>
            <a:pPr algn="ctr" indent="0" marL="0">
              <a:buNone/>
            </a:pPr>
            <a:r>
              <a:rPr lang="en-US" sz="1400" b="1" dirty="0">
                <a:solidFill>
                  <a:srgbClr val="222222"/>
                </a:solidFill>
                <a:latin typeface="Calibri" pitchFamily="34" charset="0"/>
                <a:ea typeface="Calibri" pitchFamily="34" charset="-122"/>
                <a:cs typeface="Calibri" pitchFamily="34" charset="-120"/>
              </a:rPr>
              <a:t>Next Item Generation</a:t>
            </a:r>
            <a:endParaRPr lang="en-US" sz="1400" dirty="0"/>
          </a:p>
        </p:txBody>
      </p:sp>
      <p:sp>
        <p:nvSpPr>
          <p:cNvPr id="9" name="Text 7"/>
          <p:cNvSpPr/>
          <p:nvPr/>
        </p:nvSpPr>
        <p:spPr>
          <a:xfrm>
            <a:off x="960120" y="3200400"/>
            <a:ext cx="2862072" cy="1920240"/>
          </a:xfrm>
          <a:prstGeom prst="rect">
            <a:avLst/>
          </a:prstGeom>
          <a:noFill/>
          <a:ln/>
        </p:spPr>
        <p:txBody>
          <a:bodyPr wrap="square" rtlCol="0" anchor="ctr"/>
          <a:lstStyle/>
          <a:p>
            <a:pPr indent="0" marL="0">
              <a:lnSpc>
                <a:spcPct val="130000"/>
              </a:lnSpc>
              <a:buNone/>
            </a:pPr>
            <a:r>
              <a:rPr lang="en-US" sz="1300" dirty="0">
                <a:solidFill>
                  <a:srgbClr val="666666"/>
                </a:solidFill>
                <a:latin typeface="Calibri" pitchFamily="34" charset="0"/>
                <a:ea typeface="Calibri" pitchFamily="34" charset="-122"/>
                <a:cs typeface="Calibri" pitchFamily="34" charset="-120"/>
              </a:rPr>
              <a:t>Main task. Given interaction history tokens, predict the next item's tokens — text→text (NIG1) or image→image (NIG2).</a:t>
            </a:r>
            <a:endParaRPr lang="en-US" sz="1300" dirty="0"/>
          </a:p>
        </p:txBody>
      </p:sp>
      <p:sp>
        <p:nvSpPr>
          <p:cNvPr id="10" name="Shape 8"/>
          <p:cNvSpPr/>
          <p:nvPr/>
        </p:nvSpPr>
        <p:spPr>
          <a:xfrm>
            <a:off x="4325112" y="1463040"/>
            <a:ext cx="3502152" cy="3794760"/>
          </a:xfrm>
          <a:prstGeom prst="roundRect">
            <a:avLst>
              <a:gd name="adj" fmla="val 156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1" name="Shape 9"/>
          <p:cNvSpPr/>
          <p:nvPr/>
        </p:nvSpPr>
        <p:spPr>
          <a:xfrm>
            <a:off x="4553712" y="1691640"/>
            <a:ext cx="3044952" cy="365760"/>
          </a:xfrm>
          <a:prstGeom prst="roundRect">
            <a:avLst>
              <a:gd name="adj" fmla="val 15000"/>
            </a:avLst>
          </a:prstGeom>
          <a:solidFill>
            <a:srgbClr val="FF9900"/>
          </a:solidFill>
          <a:ln/>
        </p:spPr>
      </p:sp>
      <p:sp>
        <p:nvSpPr>
          <p:cNvPr id="12" name="Text 10"/>
          <p:cNvSpPr/>
          <p:nvPr/>
        </p:nvSpPr>
        <p:spPr>
          <a:xfrm>
            <a:off x="4553712" y="1691640"/>
            <a:ext cx="3044952" cy="365760"/>
          </a:xfrm>
          <a:prstGeom prst="rect">
            <a:avLst/>
          </a:prstGeom>
          <a:noFill/>
          <a:ln/>
        </p:spPr>
        <p:txBody>
          <a:bodyPr wrap="square"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*_6 *_7 *_8</a:t>
            </a:r>
            <a:endParaRPr lang="en-US" sz="1250" dirty="0"/>
          </a:p>
        </p:txBody>
      </p:sp>
      <p:sp>
        <p:nvSpPr>
          <p:cNvPr id="13" name="Text 11"/>
          <p:cNvSpPr/>
          <p:nvPr/>
        </p:nvSpPr>
        <p:spPr>
          <a:xfrm>
            <a:off x="4553712" y="2194560"/>
            <a:ext cx="3044952" cy="502920"/>
          </a:xfrm>
          <a:prstGeom prst="rect">
            <a:avLst/>
          </a:prstGeom>
          <a:noFill/>
          <a:ln/>
        </p:spPr>
        <p:txBody>
          <a:bodyPr wrap="square" rtlCol="0" anchor="ctr"/>
          <a:lstStyle/>
          <a:p>
            <a:pPr algn="ctr" indent="0" marL="0">
              <a:buNone/>
            </a:pPr>
            <a:r>
              <a:rPr lang="en-US" sz="2400" b="1" dirty="0">
                <a:solidFill>
                  <a:srgbClr val="A62C2C"/>
                </a:solidFill>
                <a:latin typeface="Calibri" pitchFamily="34" charset="0"/>
                <a:ea typeface="Calibri" pitchFamily="34" charset="-122"/>
                <a:cs typeface="Calibri" pitchFamily="34" charset="-120"/>
              </a:rPr>
              <a:t>AIG</a:t>
            </a:r>
            <a:endParaRPr lang="en-US" sz="2400" dirty="0"/>
          </a:p>
        </p:txBody>
      </p:sp>
      <p:sp>
        <p:nvSpPr>
          <p:cNvPr id="14" name="Text 12"/>
          <p:cNvSpPr/>
          <p:nvPr/>
        </p:nvSpPr>
        <p:spPr>
          <a:xfrm>
            <a:off x="4553712" y="2697480"/>
            <a:ext cx="3044952" cy="457200"/>
          </a:xfrm>
          <a:prstGeom prst="rect">
            <a:avLst/>
          </a:prstGeom>
          <a:noFill/>
          <a:ln/>
        </p:spPr>
        <p:txBody>
          <a:bodyPr wrap="square" rtlCol="0" anchor="ctr"/>
          <a:lstStyle/>
          <a:p>
            <a:pPr algn="ctr" indent="0" marL="0">
              <a:buNone/>
            </a:pPr>
            <a:r>
              <a:rPr lang="en-US" sz="1400" b="1" dirty="0">
                <a:solidFill>
                  <a:srgbClr val="222222"/>
                </a:solidFill>
                <a:latin typeface="Calibri" pitchFamily="34" charset="0"/>
                <a:ea typeface="Calibri" pitchFamily="34" charset="-122"/>
                <a:cs typeface="Calibri" pitchFamily="34" charset="-120"/>
              </a:rPr>
              <a:t>Asymmetric Item Generation</a:t>
            </a:r>
            <a:endParaRPr lang="en-US" sz="1400" dirty="0"/>
          </a:p>
        </p:txBody>
      </p:sp>
      <p:sp>
        <p:nvSpPr>
          <p:cNvPr id="15" name="Text 13"/>
          <p:cNvSpPr/>
          <p:nvPr/>
        </p:nvSpPr>
        <p:spPr>
          <a:xfrm>
            <a:off x="4645152" y="3200400"/>
            <a:ext cx="2862072" cy="1920240"/>
          </a:xfrm>
          <a:prstGeom prst="rect">
            <a:avLst/>
          </a:prstGeom>
          <a:noFill/>
          <a:ln/>
        </p:spPr>
        <p:txBody>
          <a:bodyPr wrap="square" rtlCol="0" anchor="ctr"/>
          <a:lstStyle/>
          <a:p>
            <a:pPr indent="0" marL="0">
              <a:lnSpc>
                <a:spcPct val="130000"/>
              </a:lnSpc>
              <a:buNone/>
            </a:pPr>
            <a:r>
              <a:rPr lang="en-US" sz="1300" dirty="0">
                <a:solidFill>
                  <a:srgbClr val="666666"/>
                </a:solidFill>
                <a:latin typeface="Calibri" pitchFamily="34" charset="0"/>
                <a:ea typeface="Calibri" pitchFamily="34" charset="-122"/>
                <a:cs typeface="Calibri" pitchFamily="34" charset="-120"/>
              </a:rPr>
              <a:t>Cross-modal: image history → predict text tokens of next item (or vice versa). Implicitly links the two modalities.</a:t>
            </a:r>
            <a:endParaRPr lang="en-US" sz="1300" dirty="0"/>
          </a:p>
        </p:txBody>
      </p:sp>
      <p:sp>
        <p:nvSpPr>
          <p:cNvPr id="16" name="Shape 14"/>
          <p:cNvSpPr/>
          <p:nvPr/>
        </p:nvSpPr>
        <p:spPr>
          <a:xfrm>
            <a:off x="8010144" y="1463040"/>
            <a:ext cx="3502152" cy="3794760"/>
          </a:xfrm>
          <a:prstGeom prst="roundRect">
            <a:avLst>
              <a:gd name="adj" fmla="val 1567"/>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7" name="Shape 15"/>
          <p:cNvSpPr/>
          <p:nvPr/>
        </p:nvSpPr>
        <p:spPr>
          <a:xfrm>
            <a:off x="8238744" y="1691640"/>
            <a:ext cx="3044952" cy="365760"/>
          </a:xfrm>
          <a:prstGeom prst="roundRect">
            <a:avLst>
              <a:gd name="adj" fmla="val 15000"/>
            </a:avLst>
          </a:prstGeom>
          <a:solidFill>
            <a:srgbClr val="FF9900"/>
          </a:solidFill>
          <a:ln/>
        </p:spPr>
      </p:sp>
      <p:sp>
        <p:nvSpPr>
          <p:cNvPr id="18" name="Text 16"/>
          <p:cNvSpPr/>
          <p:nvPr/>
        </p:nvSpPr>
        <p:spPr>
          <a:xfrm>
            <a:off x="8238744" y="1691640"/>
            <a:ext cx="3044952" cy="365760"/>
          </a:xfrm>
          <a:prstGeom prst="rect">
            <a:avLst/>
          </a:prstGeom>
          <a:noFill/>
          <a:ln/>
        </p:spPr>
        <p:txBody>
          <a:bodyPr wrap="square" rtlCol="0" anchor="ctr"/>
          <a:lstStyle/>
          <a:p>
            <a:pPr algn="ctr" indent="0" marL="0">
              <a:buNone/>
            </a:pPr>
            <a:r>
              <a:rPr lang="en-US" sz="1250" b="1" dirty="0">
                <a:solidFill>
                  <a:srgbClr val="FFFFFF"/>
                </a:solidFill>
                <a:latin typeface="Courier New" pitchFamily="34" charset="0"/>
                <a:ea typeface="Courier New" pitchFamily="34" charset="-122"/>
                <a:cs typeface="Courier New" pitchFamily="34" charset="-120"/>
              </a:rPr>
              <a:t>*_12 *_13 *_14</a:t>
            </a:r>
            <a:endParaRPr lang="en-US" sz="1250" dirty="0"/>
          </a:p>
        </p:txBody>
      </p:sp>
      <p:sp>
        <p:nvSpPr>
          <p:cNvPr id="19" name="Text 17"/>
          <p:cNvSpPr/>
          <p:nvPr/>
        </p:nvSpPr>
        <p:spPr>
          <a:xfrm>
            <a:off x="8238744" y="2194560"/>
            <a:ext cx="3044952" cy="502920"/>
          </a:xfrm>
          <a:prstGeom prst="rect">
            <a:avLst/>
          </a:prstGeom>
          <a:noFill/>
          <a:ln/>
        </p:spPr>
        <p:txBody>
          <a:bodyPr wrap="square" rtlCol="0" anchor="ctr"/>
          <a:lstStyle/>
          <a:p>
            <a:pPr algn="ctr" indent="0" marL="0">
              <a:buNone/>
            </a:pPr>
            <a:r>
              <a:rPr lang="en-US" sz="2400" b="1" dirty="0">
                <a:solidFill>
                  <a:srgbClr val="A62C2C"/>
                </a:solidFill>
                <a:latin typeface="Calibri" pitchFamily="34" charset="0"/>
                <a:ea typeface="Calibri" pitchFamily="34" charset="-122"/>
                <a:cs typeface="Calibri" pitchFamily="34" charset="-120"/>
              </a:rPr>
              <a:t>QLA</a:t>
            </a:r>
            <a:endParaRPr lang="en-US" sz="2400" dirty="0"/>
          </a:p>
        </p:txBody>
      </p:sp>
      <p:sp>
        <p:nvSpPr>
          <p:cNvPr id="20" name="Text 18"/>
          <p:cNvSpPr/>
          <p:nvPr/>
        </p:nvSpPr>
        <p:spPr>
          <a:xfrm>
            <a:off x="8238744" y="2697480"/>
            <a:ext cx="3044952" cy="457200"/>
          </a:xfrm>
          <a:prstGeom prst="rect">
            <a:avLst/>
          </a:prstGeom>
          <a:noFill/>
          <a:ln/>
        </p:spPr>
        <p:txBody>
          <a:bodyPr wrap="square" rtlCol="0" anchor="ctr"/>
          <a:lstStyle/>
          <a:p>
            <a:pPr algn="ctr" indent="0" marL="0">
              <a:buNone/>
            </a:pPr>
            <a:r>
              <a:rPr lang="en-US" sz="1400" b="1" dirty="0">
                <a:solidFill>
                  <a:srgbClr val="222222"/>
                </a:solidFill>
                <a:latin typeface="Calibri" pitchFamily="34" charset="0"/>
                <a:ea typeface="Calibri" pitchFamily="34" charset="-122"/>
                <a:cs typeface="Calibri" pitchFamily="34" charset="-120"/>
              </a:rPr>
              <a:t>Quantitative Language Alignment</a:t>
            </a:r>
            <a:endParaRPr lang="en-US" sz="1400" dirty="0"/>
          </a:p>
        </p:txBody>
      </p:sp>
      <p:sp>
        <p:nvSpPr>
          <p:cNvPr id="21" name="Text 19"/>
          <p:cNvSpPr/>
          <p:nvPr/>
        </p:nvSpPr>
        <p:spPr>
          <a:xfrm>
            <a:off x="8330184" y="3200400"/>
            <a:ext cx="2862072" cy="1920240"/>
          </a:xfrm>
          <a:prstGeom prst="rect">
            <a:avLst/>
          </a:prstGeom>
          <a:noFill/>
          <a:ln/>
        </p:spPr>
        <p:txBody>
          <a:bodyPr wrap="square" rtlCol="0" anchor="ctr"/>
          <a:lstStyle/>
          <a:p>
            <a:pPr indent="0" marL="0">
              <a:lnSpc>
                <a:spcPct val="130000"/>
              </a:lnSpc>
              <a:buNone/>
            </a:pPr>
            <a:r>
              <a:rPr lang="en-US" sz="1300" dirty="0">
                <a:solidFill>
                  <a:srgbClr val="666666"/>
                </a:solidFill>
                <a:latin typeface="Calibri" pitchFamily="34" charset="0"/>
                <a:ea typeface="Calibri" pitchFamily="34" charset="-122"/>
                <a:cs typeface="Calibri" pitchFamily="34" charset="-120"/>
              </a:rPr>
              <a:t>Direct alignment: given one item's text tokens, generate its image tokens (or vice versa) — no history involved.</a:t>
            </a:r>
            <a:endParaRPr lang="en-US" sz="1300" dirty="0"/>
          </a:p>
        </p:txBody>
      </p:sp>
      <p:sp>
        <p:nvSpPr>
          <p:cNvPr id="22" name="Text 20"/>
          <p:cNvSpPr/>
          <p:nvPr/>
        </p:nvSpPr>
        <p:spPr>
          <a:xfrm>
            <a:off x="640080" y="5440680"/>
            <a:ext cx="10881360" cy="457200"/>
          </a:xfrm>
          <a:prstGeom prst="rect">
            <a:avLst/>
          </a:prstGeom>
          <a:noFill/>
          <a:ln/>
        </p:spPr>
        <p:txBody>
          <a:bodyPr wrap="square" rtlCol="0" anchor="ctr"/>
          <a:lstStyle/>
          <a:p>
            <a:pPr indent="0" marL="0">
              <a:buNone/>
            </a:pPr>
            <a:r>
              <a:rPr lang="en-US" sz="1400" i="1" dirty="0">
                <a:solidFill>
                  <a:srgbClr val="222222"/>
                </a:solidFill>
                <a:latin typeface="Calibri" pitchFamily="34" charset="0"/>
                <a:ea typeface="Calibri" pitchFamily="34" charset="-122"/>
                <a:cs typeface="Calibri" pitchFamily="34" charset="-120"/>
              </a:rPr>
              <a:t>★  Special prompt tokens (*_0, *_1 …) prepended to the input tell the model which task to perform — like a task instruction tag.</a:t>
            </a:r>
            <a:endParaRPr lang="en-US" sz="1400" dirty="0"/>
          </a:p>
        </p:txBody>
      </p:sp>
      <p:sp>
        <p:nvSpPr>
          <p:cNvPr id="23" name="Text 21"/>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10</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800" b="1" dirty="0">
                <a:solidFill>
                  <a:srgbClr val="000000"/>
                </a:solidFill>
                <a:latin typeface="Calibri" pitchFamily="34" charset="0"/>
                <a:ea typeface="Calibri" pitchFamily="34" charset="-122"/>
                <a:cs typeface="Calibri" pitchFamily="34" charset="-120"/>
              </a:rPr>
              <a:t>Training: Pre-training → Fine-tuning</a:t>
            </a:r>
            <a:endParaRPr lang="en-US" sz="2800" dirty="0"/>
          </a:p>
        </p:txBody>
      </p:sp>
      <p:sp>
        <p:nvSpPr>
          <p:cNvPr id="3" name="Shape 1"/>
          <p:cNvSpPr/>
          <p:nvPr/>
        </p:nvSpPr>
        <p:spPr>
          <a:xfrm>
            <a:off x="2312028" y="1024128"/>
            <a:ext cx="7564895" cy="36576"/>
          </a:xfrm>
          <a:prstGeom prst="rect">
            <a:avLst/>
          </a:prstGeom>
          <a:solidFill>
            <a:srgbClr val="FF9900"/>
          </a:solidFill>
          <a:ln/>
        </p:spPr>
      </p:sp>
      <p:sp>
        <p:nvSpPr>
          <p:cNvPr id="4" name="Text 2"/>
          <p:cNvSpPr/>
          <p:nvPr/>
        </p:nvSpPr>
        <p:spPr>
          <a:xfrm>
            <a:off x="640080" y="1325880"/>
            <a:ext cx="10881360" cy="457200"/>
          </a:xfrm>
          <a:prstGeom prst="rect">
            <a:avLst/>
          </a:prstGeom>
          <a:noFill/>
          <a:ln/>
        </p:spPr>
        <p:txBody>
          <a:bodyPr wrap="square" rtlCol="0" anchor="ctr"/>
          <a:lstStyle/>
          <a:p>
            <a:pPr indent="0" marL="0">
              <a:buNone/>
            </a:pPr>
            <a:r>
              <a:rPr lang="en-US" sz="1400" dirty="0">
                <a:solidFill>
                  <a:srgbClr val="222222"/>
                </a:solidFill>
                <a:latin typeface="Calibri" pitchFamily="34" charset="0"/>
                <a:ea typeface="Calibri" pitchFamily="34" charset="-122"/>
                <a:cs typeface="Calibri" pitchFamily="34" charset="-120"/>
              </a:rPr>
              <a:t>Two-stage paradigm, borrowed from NLP (pretrain-then-finetune) — a T5-style Transformer encoder–decoder does all the generation.</a:t>
            </a:r>
            <a:endParaRPr lang="en-US" sz="1400" dirty="0"/>
          </a:p>
        </p:txBody>
      </p:sp>
      <p:sp>
        <p:nvSpPr>
          <p:cNvPr id="5" name="Shape 3"/>
          <p:cNvSpPr/>
          <p:nvPr/>
        </p:nvSpPr>
        <p:spPr>
          <a:xfrm>
            <a:off x="640080" y="1965960"/>
            <a:ext cx="5257800" cy="2880360"/>
          </a:xfrm>
          <a:prstGeom prst="roundRect">
            <a:avLst>
              <a:gd name="adj" fmla="val 1905"/>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914400" y="2148840"/>
            <a:ext cx="4709160" cy="411480"/>
          </a:xfrm>
          <a:prstGeom prst="rect">
            <a:avLst/>
          </a:prstGeom>
          <a:noFill/>
          <a:ln/>
        </p:spPr>
        <p:txBody>
          <a:bodyPr wrap="square" rtlCol="0" anchor="ctr"/>
          <a:lstStyle/>
          <a:p>
            <a:pPr indent="0" marL="0">
              <a:buNone/>
            </a:pPr>
            <a:r>
              <a:rPr lang="en-US" sz="1700" b="1" dirty="0">
                <a:solidFill>
                  <a:srgbClr val="A62C2C"/>
                </a:solidFill>
                <a:latin typeface="Calibri" pitchFamily="34" charset="0"/>
                <a:ea typeface="Calibri" pitchFamily="34" charset="-122"/>
                <a:cs typeface="Calibri" pitchFamily="34" charset="-120"/>
              </a:rPr>
              <a:t>① Pre-training</a:t>
            </a:r>
            <a:endParaRPr lang="en-US" sz="1700" dirty="0"/>
          </a:p>
        </p:txBody>
      </p:sp>
      <p:sp>
        <p:nvSpPr>
          <p:cNvPr id="7" name="Text 5"/>
          <p:cNvSpPr/>
          <p:nvPr/>
        </p:nvSpPr>
        <p:spPr>
          <a:xfrm>
            <a:off x="914400" y="2651760"/>
            <a:ext cx="4709160" cy="201168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Source domains: Pet Supplies, Cell Phones, Automotive, Tools, Toys, Sports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Task used: Next Item Generation (NIG) only</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Goal: learn general, transferable recommendation knowledge</a:t>
            </a:r>
            <a:endParaRPr lang="en-US" sz="1350" dirty="0"/>
          </a:p>
        </p:txBody>
      </p:sp>
      <p:sp>
        <p:nvSpPr>
          <p:cNvPr id="8" name="Shape 6"/>
          <p:cNvSpPr/>
          <p:nvPr/>
        </p:nvSpPr>
        <p:spPr>
          <a:xfrm>
            <a:off x="6263640" y="1965960"/>
            <a:ext cx="5257800" cy="2880360"/>
          </a:xfrm>
          <a:prstGeom prst="roundRect">
            <a:avLst>
              <a:gd name="adj" fmla="val 1905"/>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537960" y="2148840"/>
            <a:ext cx="4709160" cy="411480"/>
          </a:xfrm>
          <a:prstGeom prst="rect">
            <a:avLst/>
          </a:prstGeom>
          <a:noFill/>
          <a:ln/>
        </p:spPr>
        <p:txBody>
          <a:bodyPr wrap="square" rtlCol="0" anchor="ctr"/>
          <a:lstStyle/>
          <a:p>
            <a:pPr indent="0" marL="0">
              <a:buNone/>
            </a:pPr>
            <a:r>
              <a:rPr lang="en-US" sz="1700" b="1" dirty="0">
                <a:solidFill>
                  <a:srgbClr val="A62C2C"/>
                </a:solidFill>
                <a:latin typeface="Calibri" pitchFamily="34" charset="0"/>
                <a:ea typeface="Calibri" pitchFamily="34" charset="-122"/>
                <a:cs typeface="Calibri" pitchFamily="34" charset="-120"/>
              </a:rPr>
              <a:t>② Fine-tuning</a:t>
            </a:r>
            <a:endParaRPr lang="en-US" sz="1700" dirty="0"/>
          </a:p>
        </p:txBody>
      </p:sp>
      <p:sp>
        <p:nvSpPr>
          <p:cNvPr id="10" name="Text 8"/>
          <p:cNvSpPr/>
          <p:nvPr/>
        </p:nvSpPr>
        <p:spPr>
          <a:xfrm>
            <a:off x="6537960" y="2651760"/>
            <a:ext cx="4709160" cy="201168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Target domains: Musical Instruments, Arts &amp; Crafts, Video Games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Tasks used: ALL QLG tasks — NIG + AIG + QLA</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Goal: specialize + exploit multimodal user preferences</a:t>
            </a:r>
            <a:endParaRPr lang="en-US" sz="1350" dirty="0"/>
          </a:p>
        </p:txBody>
      </p:sp>
      <p:sp>
        <p:nvSpPr>
          <p:cNvPr id="11" name="Shape 9"/>
          <p:cNvSpPr/>
          <p:nvPr/>
        </p:nvSpPr>
        <p:spPr>
          <a:xfrm>
            <a:off x="640080" y="5074920"/>
            <a:ext cx="10881360" cy="1143000"/>
          </a:xfrm>
          <a:prstGeom prst="roundRect">
            <a:avLst>
              <a:gd name="adj" fmla="val 4800"/>
            </a:avLst>
          </a:prstGeom>
          <a:solidFill>
            <a:srgbClr val="EEEEEE"/>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914400" y="5212080"/>
            <a:ext cx="10332720" cy="868680"/>
          </a:xfrm>
          <a:prstGeom prst="rect">
            <a:avLst/>
          </a:prstGeom>
          <a:noFill/>
          <a:ln/>
        </p:spPr>
        <p:txBody>
          <a:bodyPr wrap="square" rtlCol="0" anchor="ctr"/>
          <a:lstStyle/>
          <a:p>
            <a:pPr indent="0" marL="0">
              <a:lnSpc>
                <a:spcPct val="120000"/>
              </a:lnSpc>
              <a:buNone/>
            </a:pPr>
            <a:r>
              <a:rPr lang="en-US" sz="1300" i="1" dirty="0">
                <a:solidFill>
                  <a:srgbClr val="222222"/>
                </a:solidFill>
                <a:latin typeface="Calibri" pitchFamily="34" charset="0"/>
                <a:ea typeface="Calibri" pitchFamily="34" charset="-122"/>
                <a:cs typeface="Calibri" pitchFamily="34" charset="-120"/>
              </a:rPr>
              <a:t>Architecture: 4-layer Transformer encoder + 4-layer decoder, 6 attention heads/layer · ~13M parameters · AdamW optimizer, batch size 4096 (pre-train) / 512 (fine-tune) · trained on Tesla V100 GPUs (4 for pre-training, 2 for fine-tuning).</a:t>
            </a:r>
            <a:endParaRPr lang="en-US" sz="13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11</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900" b="1" dirty="0">
                <a:solidFill>
                  <a:srgbClr val="000000"/>
                </a:solidFill>
                <a:latin typeface="Calibri" pitchFamily="34" charset="0"/>
                <a:ea typeface="Calibri" pitchFamily="34" charset="-122"/>
                <a:cs typeface="Calibri" pitchFamily="34" charset="-120"/>
              </a:rPr>
              <a:t>Recommendation &amp; Re-ranking</a:t>
            </a:r>
            <a:endParaRPr lang="en-US" sz="2900" dirty="0"/>
          </a:p>
        </p:txBody>
      </p:sp>
      <p:sp>
        <p:nvSpPr>
          <p:cNvPr id="3" name="Shape 1"/>
          <p:cNvSpPr/>
          <p:nvPr/>
        </p:nvSpPr>
        <p:spPr>
          <a:xfrm>
            <a:off x="3112128" y="1024128"/>
            <a:ext cx="5964695" cy="36576"/>
          </a:xfrm>
          <a:prstGeom prst="rect">
            <a:avLst/>
          </a:prstGeom>
          <a:solidFill>
            <a:srgbClr val="FF9900"/>
          </a:solidFill>
          <a:ln/>
        </p:spPr>
      </p:sp>
      <p:sp>
        <p:nvSpPr>
          <p:cNvPr id="4" name="Text 2"/>
          <p:cNvSpPr/>
          <p:nvPr/>
        </p:nvSpPr>
        <p:spPr>
          <a:xfrm>
            <a:off x="640080" y="1371600"/>
            <a:ext cx="10881360" cy="457200"/>
          </a:xfrm>
          <a:prstGeom prst="rect">
            <a:avLst/>
          </a:prstGeom>
          <a:noFill/>
          <a:ln/>
        </p:spPr>
        <p:txBody>
          <a:bodyPr wrap="square" rtlCol="0" anchor="ctr"/>
          <a:lstStyle/>
          <a:p>
            <a:pPr indent="0" marL="0">
              <a:buNone/>
            </a:pPr>
            <a:r>
              <a:rPr lang="en-US" sz="1450" dirty="0">
                <a:solidFill>
                  <a:srgbClr val="222222"/>
                </a:solidFill>
                <a:latin typeface="Calibri" pitchFamily="34" charset="0"/>
                <a:ea typeface="Calibri" pitchFamily="34" charset="-122"/>
                <a:cs typeface="Calibri" pitchFamily="34" charset="-120"/>
              </a:rPr>
              <a:t>At inference, beam search generates two candidate lists — one per modality — which are then merged.</a:t>
            </a:r>
            <a:endParaRPr lang="en-US" sz="1450" dirty="0"/>
          </a:p>
        </p:txBody>
      </p:sp>
      <p:sp>
        <p:nvSpPr>
          <p:cNvPr id="5" name="Shape 3"/>
          <p:cNvSpPr/>
          <p:nvPr/>
        </p:nvSpPr>
        <p:spPr>
          <a:xfrm>
            <a:off x="640080" y="2057400"/>
            <a:ext cx="5257800" cy="1371600"/>
          </a:xfrm>
          <a:prstGeom prst="roundRect">
            <a:avLst>
              <a:gd name="adj" fmla="val 400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914400" y="2194560"/>
            <a:ext cx="4709160" cy="36576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Text-based List (Rₜ)</a:t>
            </a:r>
            <a:endParaRPr lang="en-US" sz="1550" dirty="0"/>
          </a:p>
        </p:txBody>
      </p:sp>
      <p:sp>
        <p:nvSpPr>
          <p:cNvPr id="7" name="Text 5"/>
          <p:cNvSpPr/>
          <p:nvPr/>
        </p:nvSpPr>
        <p:spPr>
          <a:xfrm>
            <a:off x="914400" y="2560320"/>
            <a:ext cx="4709160" cy="77724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From the Next Text Item Generation subtask, with per-item scores sₜ(x)</a:t>
            </a:r>
            <a:endParaRPr lang="en-US" sz="1300" dirty="0"/>
          </a:p>
        </p:txBody>
      </p:sp>
      <p:sp>
        <p:nvSpPr>
          <p:cNvPr id="8" name="Shape 6"/>
          <p:cNvSpPr/>
          <p:nvPr/>
        </p:nvSpPr>
        <p:spPr>
          <a:xfrm>
            <a:off x="6263640" y="2057400"/>
            <a:ext cx="5257800" cy="1371600"/>
          </a:xfrm>
          <a:prstGeom prst="roundRect">
            <a:avLst>
              <a:gd name="adj" fmla="val 400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6537960" y="2194560"/>
            <a:ext cx="4709160" cy="36576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Image-based List (Rᵥ)</a:t>
            </a:r>
            <a:endParaRPr lang="en-US" sz="1550" dirty="0"/>
          </a:p>
        </p:txBody>
      </p:sp>
      <p:sp>
        <p:nvSpPr>
          <p:cNvPr id="10" name="Text 8"/>
          <p:cNvSpPr/>
          <p:nvPr/>
        </p:nvSpPr>
        <p:spPr>
          <a:xfrm>
            <a:off x="6537960" y="2560320"/>
            <a:ext cx="4709160" cy="77724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From the Next Image Item Generation subtask, with per-item scores sᵥ(x)</a:t>
            </a:r>
            <a:endParaRPr lang="en-US" sz="1300" dirty="0"/>
          </a:p>
        </p:txBody>
      </p:sp>
      <p:sp>
        <p:nvSpPr>
          <p:cNvPr id="11" name="Text 9"/>
          <p:cNvSpPr/>
          <p:nvPr/>
        </p:nvSpPr>
        <p:spPr>
          <a:xfrm>
            <a:off x="640080" y="3520440"/>
            <a:ext cx="10881360" cy="365760"/>
          </a:xfrm>
          <a:prstGeom prst="rect">
            <a:avLst/>
          </a:prstGeom>
          <a:noFill/>
          <a:ln/>
        </p:spPr>
        <p:txBody>
          <a:bodyPr wrap="square" rtlCol="0" anchor="ctr"/>
          <a:lstStyle/>
          <a:p>
            <a:pPr algn="ctr" indent="0" marL="0">
              <a:buNone/>
            </a:pPr>
            <a:r>
              <a:rPr lang="en-US" sz="1650" b="1" dirty="0">
                <a:solidFill>
                  <a:srgbClr val="FF9900"/>
                </a:solidFill>
                <a:latin typeface="Calibri" pitchFamily="34" charset="0"/>
                <a:ea typeface="Calibri" pitchFamily="34" charset="-122"/>
                <a:cs typeface="Calibri" pitchFamily="34" charset="-120"/>
              </a:rPr>
              <a:t>↓  merge  ↓</a:t>
            </a:r>
            <a:endParaRPr lang="en-US" sz="1650" dirty="0"/>
          </a:p>
        </p:txBody>
      </p:sp>
      <p:sp>
        <p:nvSpPr>
          <p:cNvPr id="12" name="Shape 10"/>
          <p:cNvSpPr/>
          <p:nvPr/>
        </p:nvSpPr>
        <p:spPr>
          <a:xfrm>
            <a:off x="640080" y="3977640"/>
            <a:ext cx="10881360" cy="1691640"/>
          </a:xfrm>
          <a:prstGeom prst="roundRect">
            <a:avLst>
              <a:gd name="adj" fmla="val 3243"/>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3" name="Text 11"/>
          <p:cNvSpPr/>
          <p:nvPr/>
        </p:nvSpPr>
        <p:spPr>
          <a:xfrm>
            <a:off x="914400" y="4114800"/>
            <a:ext cx="4572000" cy="320040"/>
          </a:xfrm>
          <a:prstGeom prst="rect">
            <a:avLst/>
          </a:prstGeom>
          <a:noFill/>
          <a:ln/>
        </p:spPr>
        <p:txBody>
          <a:bodyPr wrap="square" rtlCol="0" anchor="ctr"/>
          <a:lstStyle/>
          <a:p>
            <a:pPr indent="0" marL="0">
              <a:buNone/>
            </a:pPr>
            <a:r>
              <a:rPr lang="en-US" sz="1450" b="1" dirty="0">
                <a:solidFill>
                  <a:srgbClr val="222222"/>
                </a:solidFill>
                <a:latin typeface="Calibri" pitchFamily="34" charset="0"/>
                <a:ea typeface="Calibri" pitchFamily="34" charset="-122"/>
                <a:cs typeface="Calibri" pitchFamily="34" charset="-120"/>
              </a:rPr>
              <a:t>Re-ranking rule:</a:t>
            </a:r>
            <a:endParaRPr lang="en-US" sz="1450" dirty="0"/>
          </a:p>
        </p:txBody>
      </p:sp>
      <p:sp>
        <p:nvSpPr>
          <p:cNvPr id="14" name="Text 12"/>
          <p:cNvSpPr/>
          <p:nvPr/>
        </p:nvSpPr>
        <p:spPr>
          <a:xfrm>
            <a:off x="914400" y="4480560"/>
            <a:ext cx="10332720" cy="1005840"/>
          </a:xfrm>
          <a:prstGeom prst="rect">
            <a:avLst/>
          </a:prstGeom>
          <a:noFill/>
          <a:ln/>
        </p:spPr>
        <p:txBody>
          <a:bodyPr wrap="square" rtlCol="0" anchor="ctr"/>
          <a:lstStyle/>
          <a:p>
            <a:pPr indent="0" marL="0">
              <a:lnSpc>
                <a:spcPct val="140000"/>
              </a:lnSpc>
              <a:buNone/>
            </a:pPr>
            <a:r>
              <a:rPr lang="en-US" sz="1400" b="1" dirty="0">
                <a:solidFill>
                  <a:srgbClr val="A62C2C"/>
                </a:solidFill>
                <a:latin typeface="Calibri" pitchFamily="34" charset="0"/>
                <a:ea typeface="Calibri" pitchFamily="34" charset="-122"/>
                <a:cs typeface="Calibri" pitchFamily="34" charset="-120"/>
              </a:rPr>
              <a:t>Item in BOTH lists  →  </a:t>
            </a:r>
            <a:pPr indent="0" marL="0">
              <a:lnSpc>
                <a:spcPct val="140000"/>
              </a:lnSpc>
              <a:buNone/>
            </a:pPr>
            <a:r>
              <a:rPr lang="en-US" sz="1400" dirty="0">
                <a:solidFill>
                  <a:srgbClr val="222222"/>
                </a:solidFill>
                <a:latin typeface="Calibri" pitchFamily="34" charset="0"/>
                <a:ea typeface="Calibri" pitchFamily="34" charset="-122"/>
                <a:cs typeface="Calibri" pitchFamily="34" charset="-120"/>
              </a:rPr>
              <a:t>score = (sₜ(x) + sᵥ(x)) / 2  +  1   (boosted — both modalities agree)
</a:t>
            </a:r>
            <a:pPr indent="0" marL="0">
              <a:lnSpc>
                <a:spcPct val="140000"/>
              </a:lnSpc>
              <a:buNone/>
            </a:pPr>
            <a:r>
              <a:rPr lang="en-US" sz="1400" b="1" dirty="0">
                <a:solidFill>
                  <a:srgbClr val="A62C2C"/>
                </a:solidFill>
                <a:latin typeface="Calibri" pitchFamily="34" charset="0"/>
                <a:ea typeface="Calibri" pitchFamily="34" charset="-122"/>
                <a:cs typeface="Calibri" pitchFamily="34" charset="-120"/>
              </a:rPr>
              <a:t>Item in only ONE list  →  </a:t>
            </a:r>
            <a:pPr indent="0" marL="0">
              <a:lnSpc>
                <a:spcPct val="140000"/>
              </a:lnSpc>
              <a:buNone/>
            </a:pPr>
            <a:r>
              <a:rPr lang="en-US" sz="1400" dirty="0">
                <a:solidFill>
                  <a:srgbClr val="222222"/>
                </a:solidFill>
                <a:latin typeface="Calibri" pitchFamily="34" charset="0"/>
                <a:ea typeface="Calibri" pitchFamily="34" charset="-122"/>
                <a:cs typeface="Calibri" pitchFamily="34" charset="-120"/>
              </a:rPr>
              <a:t>keep that list's original score</a:t>
            </a:r>
            <a:endParaRPr lang="en-US" sz="1400" dirty="0"/>
          </a:p>
        </p:txBody>
      </p:sp>
      <p:sp>
        <p:nvSpPr>
          <p:cNvPr id="15" name="Text 13"/>
          <p:cNvSpPr/>
          <p:nvPr/>
        </p:nvSpPr>
        <p:spPr>
          <a:xfrm>
            <a:off x="640080" y="5806440"/>
            <a:ext cx="10881360" cy="411480"/>
          </a:xfrm>
          <a:prstGeom prst="rect">
            <a:avLst/>
          </a:prstGeom>
          <a:noFill/>
          <a:ln/>
        </p:spPr>
        <p:txBody>
          <a:bodyPr wrap="square" rtlCol="0" anchor="ctr"/>
          <a:lstStyle/>
          <a:p>
            <a:pPr indent="0" marL="0">
              <a:buNone/>
            </a:pPr>
            <a:r>
              <a:rPr lang="en-US" sz="1350" i="1" dirty="0">
                <a:solidFill>
                  <a:srgbClr val="666666"/>
                </a:solidFill>
                <a:latin typeface="Calibri" pitchFamily="34" charset="0"/>
                <a:ea typeface="Calibri" pitchFamily="34" charset="-122"/>
                <a:cs typeface="Calibri" pitchFamily="34" charset="-120"/>
              </a:rPr>
              <a:t>Intuition: items both modalities agree on are more likely to be genuinely relevant, so they're ranked higher.</a:t>
            </a:r>
            <a:endParaRPr lang="en-US" sz="1350" dirty="0"/>
          </a:p>
        </p:txBody>
      </p:sp>
      <p:sp>
        <p:nvSpPr>
          <p:cNvPr id="16" name="Text 14"/>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12</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Experimental Setup</a:t>
            </a:r>
            <a:endParaRPr lang="en-US" sz="3000" dirty="0"/>
          </a:p>
        </p:txBody>
      </p:sp>
      <p:sp>
        <p:nvSpPr>
          <p:cNvPr id="3" name="Shape 1"/>
          <p:cNvSpPr/>
          <p:nvPr/>
        </p:nvSpPr>
        <p:spPr>
          <a:xfrm>
            <a:off x="3976236" y="1024128"/>
            <a:ext cx="4236479" cy="36576"/>
          </a:xfrm>
          <a:prstGeom prst="rect">
            <a:avLst/>
          </a:prstGeom>
          <a:solidFill>
            <a:srgbClr val="FF9900"/>
          </a:solidFill>
          <a:ln/>
        </p:spPr>
      </p:sp>
      <p:sp>
        <p:nvSpPr>
          <p:cNvPr id="4" name="Text 2"/>
          <p:cNvSpPr/>
          <p:nvPr/>
        </p:nvSpPr>
        <p:spPr>
          <a:xfrm>
            <a:off x="640080" y="1325880"/>
            <a:ext cx="10881360" cy="457200"/>
          </a:xfrm>
          <a:prstGeom prst="rect">
            <a:avLst/>
          </a:prstGeom>
          <a:noFill/>
          <a:ln/>
        </p:spPr>
        <p:txBody>
          <a:bodyPr wrap="square" rtlCol="0" anchor="ctr"/>
          <a:lstStyle/>
          <a:p>
            <a:pPr indent="0" marL="0">
              <a:buNone/>
            </a:pPr>
            <a:r>
              <a:rPr lang="en-US" sz="1400" dirty="0">
                <a:solidFill>
                  <a:srgbClr val="222222"/>
                </a:solidFill>
                <a:latin typeface="Calibri" pitchFamily="34" charset="0"/>
                <a:ea typeface="Calibri" pitchFamily="34" charset="-122"/>
                <a:cs typeface="Calibri" pitchFamily="34" charset="-120"/>
              </a:rPr>
              <a:t>Amazon Product Reviews dataset — 6 categories for pre-training (source), 3 for evaluation (target):</a:t>
            </a:r>
            <a:endParaRPr lang="en-US" sz="1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 y="1920240"/>
          <a:ext cx="10881360" cy="2194560"/>
        </p:xfrm>
        <a:graphic>
          <a:graphicData uri="http://schemas.openxmlformats.org/drawingml/2006/table">
            <a:tbl>
              <a:tblPr/>
              <a:tblGrid>
                <a:gridCol w="1920240"/>
                <a:gridCol w="6949440"/>
                <a:gridCol w="2011680"/>
              </a:tblGrid>
              <a:tr h="731520">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Role</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Categories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Notes</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r>
              <a:tr h="73152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Pre-training</a:t>
                      </a:r>
                      <a:endParaRPr lang="en-US" sz="1300" dirty="0">
                        <a:latin typeface="Calibri" charset="0"/>
                        <a:ea typeface="Calibri" charset="0"/>
                        <a:cs typeface="Calibri" charset="0"/>
                      </a:endParaRPr>
                    </a:p>
                    <a:p>
                      <a:pPr algn="ctr" indent="0" marL="0">
                        <a:buNone/>
                      </a:pPr>
                      <a:r>
                        <a:rPr lang="en-US" sz="1300" dirty="0">
                          <a:solidFill>
                            <a:srgbClr val="222222"/>
                          </a:solidFill>
                          <a:latin typeface="Calibri" pitchFamily="34" charset="0"/>
                          <a:ea typeface="Calibri" pitchFamily="34" charset="-122"/>
                          <a:cs typeface="Calibri" pitchFamily="34" charset="-120"/>
                        </a:rPr>
                        <a:t>(Source)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Pet Supplies · Cell Phones &amp; Accessories · Automotive ·</a:t>
                      </a:r>
                      <a:endParaRPr lang="en-US" sz="1300" dirty="0">
                        <a:latin typeface="Calibri" charset="0"/>
                        <a:ea typeface="Calibri" charset="0"/>
                        <a:cs typeface="Calibri" charset="0"/>
                      </a:endParaRPr>
                    </a:p>
                    <a:p>
                      <a:pPr algn="l" indent="0" marL="0">
                        <a:buNone/>
                      </a:pPr>
                      <a:r>
                        <a:rPr lang="en-US" sz="1300" dirty="0">
                          <a:solidFill>
                            <a:srgbClr val="222222"/>
                          </a:solidFill>
                          <a:latin typeface="Calibri" pitchFamily="34" charset="0"/>
                          <a:ea typeface="Calibri" pitchFamily="34" charset="-122"/>
                          <a:cs typeface="Calibri" pitchFamily="34" charset="-120"/>
                        </a:rPr>
                        <a:t>Tools &amp; Home Improvement · Toys and Games · Sports &amp; Outdoors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General recommendation</a:t>
                      </a:r>
                      <a:endParaRPr lang="en-US" sz="1300" dirty="0">
                        <a:latin typeface="Calibri" charset="0"/>
                        <a:ea typeface="Calibri" charset="0"/>
                        <a:cs typeface="Calibri" charset="0"/>
                      </a:endParaRPr>
                    </a:p>
                    <a:p>
                      <a:pPr algn="ctr" indent="0" marL="0">
                        <a:buNone/>
                      </a:pPr>
                      <a:r>
                        <a:rPr lang="en-US" sz="1300" dirty="0">
                          <a:solidFill>
                            <a:srgbClr val="222222"/>
                          </a:solidFill>
                          <a:latin typeface="Calibri" pitchFamily="34" charset="0"/>
                          <a:ea typeface="Calibri" pitchFamily="34" charset="-122"/>
                          <a:cs typeface="Calibri" pitchFamily="34" charset="-120"/>
                        </a:rPr>
                        <a:t>knowledge only</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731520">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Fine-tuning /</a:t>
                      </a:r>
                      <a:endParaRPr lang="en-US" sz="1300" dirty="0">
                        <a:latin typeface="Calibri" charset="0"/>
                        <a:ea typeface="Calibri" charset="0"/>
                        <a:cs typeface="Calibri" charset="0"/>
                      </a:endParaRPr>
                    </a:p>
                    <a:p>
                      <a:pPr algn="ctr" indent="0" marL="0">
                        <a:buNone/>
                      </a:pPr>
                      <a:r>
                        <a:rPr lang="en-US" sz="1300" dirty="0">
                          <a:solidFill>
                            <a:srgbClr val="222222"/>
                          </a:solidFill>
                          <a:latin typeface="Calibri" pitchFamily="34" charset="0"/>
                          <a:ea typeface="Calibri" pitchFamily="34" charset="-122"/>
                          <a:cs typeface="Calibri" pitchFamily="34" charset="-120"/>
                        </a:rPr>
                        <a:t>Evaluation (Target)</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l" indent="0" marL="0">
                        <a:buNone/>
                      </a:pPr>
                      <a:r>
                        <a:rPr lang="en-US" sz="1300" dirty="0">
                          <a:solidFill>
                            <a:srgbClr val="222222"/>
                          </a:solidFill>
                          <a:latin typeface="Calibri" pitchFamily="34" charset="0"/>
                          <a:ea typeface="Calibri" pitchFamily="34" charset="-122"/>
                          <a:cs typeface="Calibri" pitchFamily="34" charset="-120"/>
                        </a:rPr>
                        <a:t>Musical Instruments · Arts, Crafts &amp; Sewing · Video Games</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222222"/>
                          </a:solidFill>
                          <a:latin typeface="Calibri" pitchFamily="34" charset="0"/>
                          <a:ea typeface="Calibri" pitchFamily="34" charset="-122"/>
                          <a:cs typeface="Calibri" pitchFamily="34" charset="-120"/>
                        </a:rPr>
                        <a:t>Full QLG tasks +</a:t>
                      </a:r>
                      <a:endParaRPr lang="en-US" sz="1300" dirty="0">
                        <a:latin typeface="Calibri" charset="0"/>
                        <a:ea typeface="Calibri" charset="0"/>
                        <a:cs typeface="Calibri" charset="0"/>
                      </a:endParaRPr>
                    </a:p>
                    <a:p>
                      <a:pPr algn="ctr" indent="0" marL="0">
                        <a:buNone/>
                      </a:pPr>
                      <a:r>
                        <a:rPr lang="en-US" sz="1300" dirty="0">
                          <a:solidFill>
                            <a:srgbClr val="222222"/>
                          </a:solidFill>
                          <a:latin typeface="Calibri" pitchFamily="34" charset="0"/>
                          <a:ea typeface="Calibri" pitchFamily="34" charset="-122"/>
                          <a:cs typeface="Calibri" pitchFamily="34" charset="-120"/>
                        </a:rPr>
                        <a:t>final metrics reported here</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Text 3"/>
          <p:cNvSpPr/>
          <p:nvPr/>
        </p:nvSpPr>
        <p:spPr>
          <a:xfrm>
            <a:off x="640080" y="4297680"/>
            <a:ext cx="10881360" cy="365760"/>
          </a:xfrm>
          <a:prstGeom prst="rect">
            <a:avLst/>
          </a:prstGeom>
          <a:noFill/>
          <a:ln/>
        </p:spPr>
        <p:txBody>
          <a:bodyPr wrap="square" rtlCol="0" anchor="ctr"/>
          <a:lstStyle/>
          <a:p>
            <a:pPr indent="0" marL="0">
              <a:buNone/>
            </a:pPr>
            <a:r>
              <a:rPr lang="en-US" sz="1350" i="1" dirty="0">
                <a:solidFill>
                  <a:srgbClr val="222222"/>
                </a:solidFill>
                <a:latin typeface="Calibri" pitchFamily="34" charset="0"/>
                <a:ea typeface="Calibri" pitchFamily="34" charset="-122"/>
                <a:cs typeface="Calibri" pitchFamily="34" charset="-120"/>
              </a:rPr>
              <a:t>Metrics: Recall@K and NDCG@K (K = 1, 5, 10), full-ranking (leave-one-out) evaluation · Beam size = 20 for generative methods.</a:t>
            </a:r>
            <a:endParaRPr lang="en-US" sz="1350" dirty="0"/>
          </a:p>
        </p:txBody>
      </p:sp>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40080" y="4709160"/>
          <a:ext cx="10881360" cy="1508760"/>
        </p:xfrm>
        <a:graphic>
          <a:graphicData uri="http://schemas.openxmlformats.org/drawingml/2006/table">
            <a:tbl>
              <a:tblPr/>
              <a:tblGrid>
                <a:gridCol w="2560320"/>
                <a:gridCol w="1664208"/>
                <a:gridCol w="1664208"/>
                <a:gridCol w="1664208"/>
                <a:gridCol w="1664208"/>
                <a:gridCol w="1664208"/>
              </a:tblGrid>
              <a:tr h="374904">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Target Dataset</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Users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Items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Interactions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Sparsity</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250" b="1" dirty="0">
                          <a:solidFill>
                            <a:srgbClr val="FFFFFF"/>
                          </a:solidFill>
                          <a:latin typeface="Calibri" pitchFamily="34" charset="0"/>
                          <a:ea typeface="Calibri" pitchFamily="34" charset="-122"/>
                          <a:cs typeface="Calibri" pitchFamily="34" charset="-120"/>
                        </a:rPr>
                        <a:t>Avg. Seq. Len</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r>
              <a:tr h="374904">
                <a:tc>
                  <a:txBody>
                    <a:bodyPr/>
                    <a:lstStyle/>
                    <a:p>
                      <a:pPr algn="l" indent="0" marL="0">
                        <a:buNone/>
                      </a:pPr>
                      <a:r>
                        <a:rPr lang="en-US" sz="1250" b="1" dirty="0">
                          <a:solidFill>
                            <a:srgbClr val="222222"/>
                          </a:solidFill>
                          <a:latin typeface="Calibri" pitchFamily="34" charset="0"/>
                          <a:ea typeface="Calibri" pitchFamily="34" charset="-122"/>
                          <a:cs typeface="Calibri" pitchFamily="34" charset="-120"/>
                        </a:rPr>
                        <a:t>Instruments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17,112</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6,250</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136,226</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99.87%</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7.96</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374904">
                <a:tc>
                  <a:txBody>
                    <a:bodyPr/>
                    <a:lstStyle/>
                    <a:p>
                      <a:pPr algn="l" indent="0" marL="0">
                        <a:buNone/>
                      </a:pPr>
                      <a:r>
                        <a:rPr lang="en-US" sz="1250" b="1" dirty="0">
                          <a:solidFill>
                            <a:srgbClr val="222222"/>
                          </a:solidFill>
                          <a:latin typeface="Calibri" pitchFamily="34" charset="0"/>
                          <a:ea typeface="Calibri" pitchFamily="34" charset="-122"/>
                          <a:cs typeface="Calibri" pitchFamily="34" charset="-120"/>
                        </a:rPr>
                        <a:t>Arts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22,171</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9,416</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174,079</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99.92%</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7.85</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r>
              <a:tr h="374904">
                <a:tc>
                  <a:txBody>
                    <a:bodyPr/>
                    <a:lstStyle/>
                    <a:p>
                      <a:pPr algn="l" indent="0" marL="0">
                        <a:buNone/>
                      </a:pPr>
                      <a:r>
                        <a:rPr lang="en-US" sz="1250" b="1" dirty="0">
                          <a:solidFill>
                            <a:srgbClr val="222222"/>
                          </a:solidFill>
                          <a:latin typeface="Calibri" pitchFamily="34" charset="0"/>
                          <a:ea typeface="Calibri" pitchFamily="34" charset="-122"/>
                          <a:cs typeface="Calibri" pitchFamily="34" charset="-120"/>
                        </a:rPr>
                        <a:t>Games</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42,259</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13,839</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373,514</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99.94%</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22222"/>
                          </a:solidFill>
                          <a:latin typeface="Calibri" pitchFamily="34" charset="0"/>
                          <a:ea typeface="Calibri" pitchFamily="34" charset="-122"/>
                          <a:cs typeface="Calibri" pitchFamily="34" charset="-120"/>
                        </a:rPr>
                        <a:t>8.84</a:t>
                      </a:r>
                      <a:endParaRPr lang="en-US" sz="12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8" name="Text 4"/>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13</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800" b="1" dirty="0">
                <a:solidFill>
                  <a:srgbClr val="000000"/>
                </a:solidFill>
                <a:latin typeface="Calibri" pitchFamily="34" charset="0"/>
                <a:ea typeface="Calibri" pitchFamily="34" charset="-122"/>
                <a:cs typeface="Calibri" pitchFamily="34" charset="-120"/>
              </a:rPr>
              <a:t>Results: Performance vs. Baselines</a:t>
            </a:r>
            <a:endParaRPr lang="en-US" sz="2800" dirty="0"/>
          </a:p>
        </p:txBody>
      </p:sp>
      <p:sp>
        <p:nvSpPr>
          <p:cNvPr id="3" name="Shape 1"/>
          <p:cNvSpPr/>
          <p:nvPr/>
        </p:nvSpPr>
        <p:spPr>
          <a:xfrm>
            <a:off x="2511164" y="1024128"/>
            <a:ext cx="7166623" cy="36576"/>
          </a:xfrm>
          <a:prstGeom prst="rect">
            <a:avLst/>
          </a:prstGeom>
          <a:solidFill>
            <a:srgbClr val="FF9900"/>
          </a:solidFill>
          <a:ln/>
        </p:spPr>
      </p:sp>
      <p:sp>
        <p:nvSpPr>
          <p:cNvPr id="4" name="Text 2"/>
          <p:cNvSpPr/>
          <p:nvPr/>
        </p:nvSpPr>
        <p:spPr>
          <a:xfrm>
            <a:off x="640080" y="1325880"/>
            <a:ext cx="10881360" cy="548640"/>
          </a:xfrm>
          <a:prstGeom prst="rect">
            <a:avLst/>
          </a:prstGeom>
          <a:noFill/>
          <a:ln/>
        </p:spPr>
        <p:txBody>
          <a:bodyPr wrap="square" rtlCol="0" anchor="ctr"/>
          <a:lstStyle/>
          <a:p>
            <a:pPr indent="0" marL="0">
              <a:lnSpc>
                <a:spcPct val="120000"/>
              </a:lnSpc>
              <a:buNone/>
            </a:pPr>
            <a:r>
              <a:rPr lang="en-US" sz="1400" dirty="0">
                <a:solidFill>
                  <a:srgbClr val="222222"/>
                </a:solidFill>
                <a:latin typeface="Calibri" pitchFamily="34" charset="0"/>
                <a:ea typeface="Calibri" pitchFamily="34" charset="-122"/>
                <a:cs typeface="Calibri" pitchFamily="34" charset="-120"/>
              </a:rPr>
              <a:t>NDCG improvement of MQL4GRec over the strongest baselines, as reported in the paper's abstract (average of NDCG@5 and NDCG@10 gains):</a:t>
            </a:r>
            <a:endParaRPr lang="en-US" sz="1400" dirty="0"/>
          </a:p>
        </p:txBody>
      </p:sp>
      <p:sp>
        <p:nvSpPr>
          <p:cNvPr id="5" name="Shape 3"/>
          <p:cNvSpPr/>
          <p:nvPr/>
        </p:nvSpPr>
        <p:spPr>
          <a:xfrm>
            <a:off x="640080" y="2011680"/>
            <a:ext cx="3502152" cy="1737360"/>
          </a:xfrm>
          <a:prstGeom prst="roundRect">
            <a:avLst>
              <a:gd name="adj" fmla="val 315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6" name="Text 4"/>
          <p:cNvSpPr/>
          <p:nvPr/>
        </p:nvSpPr>
        <p:spPr>
          <a:xfrm>
            <a:off x="640080" y="2148840"/>
            <a:ext cx="3502152" cy="822960"/>
          </a:xfrm>
          <a:prstGeom prst="rect">
            <a:avLst/>
          </a:prstGeom>
          <a:noFill/>
          <a:ln/>
        </p:spPr>
        <p:txBody>
          <a:bodyPr wrap="square" rtlCol="0" anchor="ctr"/>
          <a:lstStyle/>
          <a:p>
            <a:pPr algn="ctr" indent="0" marL="0">
              <a:buNone/>
            </a:pPr>
            <a:r>
              <a:rPr lang="en-US" sz="3700" b="1" dirty="0">
                <a:solidFill>
                  <a:srgbClr val="A62C2C"/>
                </a:solidFill>
                <a:latin typeface="Calibri" pitchFamily="34" charset="0"/>
                <a:ea typeface="Calibri" pitchFamily="34" charset="-122"/>
                <a:cs typeface="Calibri" pitchFamily="34" charset="-120"/>
              </a:rPr>
              <a:t>+11.18%</a:t>
            </a:r>
            <a:endParaRPr lang="en-US" sz="3700" dirty="0"/>
          </a:p>
        </p:txBody>
      </p:sp>
      <p:sp>
        <p:nvSpPr>
          <p:cNvPr id="7" name="Text 5"/>
          <p:cNvSpPr/>
          <p:nvPr/>
        </p:nvSpPr>
        <p:spPr>
          <a:xfrm>
            <a:off x="640080" y="2971800"/>
            <a:ext cx="3502152" cy="594360"/>
          </a:xfrm>
          <a:prstGeom prst="rect">
            <a:avLst/>
          </a:prstGeom>
          <a:noFill/>
          <a:ln/>
        </p:spPr>
        <p:txBody>
          <a:bodyPr wrap="square" rtlCol="0" anchor="ctr"/>
          <a:lstStyle/>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Instruments</a:t>
            </a:r>
            <a:endParaRPr lang="en-US" sz="1400" dirty="0"/>
          </a:p>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(NDCG avg)</a:t>
            </a:r>
            <a:endParaRPr lang="en-US" sz="1400" dirty="0"/>
          </a:p>
        </p:txBody>
      </p:sp>
      <p:sp>
        <p:nvSpPr>
          <p:cNvPr id="8" name="Shape 6"/>
          <p:cNvSpPr/>
          <p:nvPr/>
        </p:nvSpPr>
        <p:spPr>
          <a:xfrm>
            <a:off x="4325112" y="2011680"/>
            <a:ext cx="3502152" cy="1737360"/>
          </a:xfrm>
          <a:prstGeom prst="roundRect">
            <a:avLst>
              <a:gd name="adj" fmla="val 315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9" name="Text 7"/>
          <p:cNvSpPr/>
          <p:nvPr/>
        </p:nvSpPr>
        <p:spPr>
          <a:xfrm>
            <a:off x="4325112" y="2148840"/>
            <a:ext cx="3502152" cy="822960"/>
          </a:xfrm>
          <a:prstGeom prst="rect">
            <a:avLst/>
          </a:prstGeom>
          <a:noFill/>
          <a:ln/>
        </p:spPr>
        <p:txBody>
          <a:bodyPr wrap="square" rtlCol="0" anchor="ctr"/>
          <a:lstStyle/>
          <a:p>
            <a:pPr algn="ctr" indent="0" marL="0">
              <a:buNone/>
            </a:pPr>
            <a:r>
              <a:rPr lang="en-US" sz="3700" b="1" dirty="0">
                <a:solidFill>
                  <a:srgbClr val="A62C2C"/>
                </a:solidFill>
                <a:latin typeface="Calibri" pitchFamily="34" charset="0"/>
                <a:ea typeface="Calibri" pitchFamily="34" charset="-122"/>
                <a:cs typeface="Calibri" pitchFamily="34" charset="-120"/>
              </a:rPr>
              <a:t>+14.82%</a:t>
            </a:r>
            <a:endParaRPr lang="en-US" sz="3700" dirty="0"/>
          </a:p>
        </p:txBody>
      </p:sp>
      <p:sp>
        <p:nvSpPr>
          <p:cNvPr id="10" name="Text 8"/>
          <p:cNvSpPr/>
          <p:nvPr/>
        </p:nvSpPr>
        <p:spPr>
          <a:xfrm>
            <a:off x="4325112" y="2971800"/>
            <a:ext cx="3502152" cy="594360"/>
          </a:xfrm>
          <a:prstGeom prst="rect">
            <a:avLst/>
          </a:prstGeom>
          <a:noFill/>
          <a:ln/>
        </p:spPr>
        <p:txBody>
          <a:bodyPr wrap="square" rtlCol="0" anchor="ctr"/>
          <a:lstStyle/>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Arts</a:t>
            </a:r>
            <a:endParaRPr lang="en-US" sz="1400" dirty="0"/>
          </a:p>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(NDCG avg)</a:t>
            </a:r>
            <a:endParaRPr lang="en-US" sz="1400" dirty="0"/>
          </a:p>
        </p:txBody>
      </p:sp>
      <p:sp>
        <p:nvSpPr>
          <p:cNvPr id="11" name="Shape 9"/>
          <p:cNvSpPr/>
          <p:nvPr/>
        </p:nvSpPr>
        <p:spPr>
          <a:xfrm>
            <a:off x="8010144" y="2011680"/>
            <a:ext cx="3502152" cy="1737360"/>
          </a:xfrm>
          <a:prstGeom prst="roundRect">
            <a:avLst>
              <a:gd name="adj" fmla="val 315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2" name="Text 10"/>
          <p:cNvSpPr/>
          <p:nvPr/>
        </p:nvSpPr>
        <p:spPr>
          <a:xfrm>
            <a:off x="8010144" y="2148840"/>
            <a:ext cx="3502152" cy="822960"/>
          </a:xfrm>
          <a:prstGeom prst="rect">
            <a:avLst/>
          </a:prstGeom>
          <a:noFill/>
          <a:ln/>
        </p:spPr>
        <p:txBody>
          <a:bodyPr wrap="square" rtlCol="0" anchor="ctr"/>
          <a:lstStyle/>
          <a:p>
            <a:pPr algn="ctr" indent="0" marL="0">
              <a:buNone/>
            </a:pPr>
            <a:r>
              <a:rPr lang="en-US" sz="3700" b="1" dirty="0">
                <a:solidFill>
                  <a:srgbClr val="A62C2C"/>
                </a:solidFill>
                <a:latin typeface="Calibri" pitchFamily="34" charset="0"/>
                <a:ea typeface="Calibri" pitchFamily="34" charset="-122"/>
                <a:cs typeface="Calibri" pitchFamily="34" charset="-120"/>
              </a:rPr>
              <a:t>+7.95%</a:t>
            </a:r>
            <a:endParaRPr lang="en-US" sz="3700" dirty="0"/>
          </a:p>
        </p:txBody>
      </p:sp>
      <p:sp>
        <p:nvSpPr>
          <p:cNvPr id="13" name="Text 11"/>
          <p:cNvSpPr/>
          <p:nvPr/>
        </p:nvSpPr>
        <p:spPr>
          <a:xfrm>
            <a:off x="8010144" y="2971800"/>
            <a:ext cx="3502152" cy="594360"/>
          </a:xfrm>
          <a:prstGeom prst="rect">
            <a:avLst/>
          </a:prstGeom>
          <a:noFill/>
          <a:ln/>
        </p:spPr>
        <p:txBody>
          <a:bodyPr wrap="square" rtlCol="0" anchor="ctr"/>
          <a:lstStyle/>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Games</a:t>
            </a:r>
            <a:endParaRPr lang="en-US" sz="1400" dirty="0"/>
          </a:p>
          <a:p>
            <a:pPr algn="ctr" indent="0" marL="0">
              <a:lnSpc>
                <a:spcPct val="110000"/>
              </a:lnSpc>
              <a:buNone/>
            </a:pPr>
            <a:r>
              <a:rPr lang="en-US" sz="1400" dirty="0">
                <a:solidFill>
                  <a:srgbClr val="222222"/>
                </a:solidFill>
                <a:latin typeface="Calibri" pitchFamily="34" charset="0"/>
                <a:ea typeface="Calibri" pitchFamily="34" charset="-122"/>
                <a:cs typeface="Calibri" pitchFamily="34" charset="-120"/>
              </a:rPr>
              <a:t>(NDCG avg)</a:t>
            </a:r>
            <a:endParaRPr lang="en-US" sz="1400" dirty="0"/>
          </a:p>
        </p:txBody>
      </p:sp>
      <p:sp>
        <p:nvSpPr>
          <p:cNvPr id="14" name="Shape 12"/>
          <p:cNvSpPr/>
          <p:nvPr/>
        </p:nvSpPr>
        <p:spPr>
          <a:xfrm>
            <a:off x="640080" y="3977640"/>
            <a:ext cx="10881360" cy="2011680"/>
          </a:xfrm>
          <a:prstGeom prst="roundRect">
            <a:avLst>
              <a:gd name="adj" fmla="val 2727"/>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5" name="Text 13"/>
          <p:cNvSpPr/>
          <p:nvPr/>
        </p:nvSpPr>
        <p:spPr>
          <a:xfrm>
            <a:off x="914400" y="4023360"/>
            <a:ext cx="10332720" cy="365760"/>
          </a:xfrm>
          <a:prstGeom prst="rect">
            <a:avLst/>
          </a:prstGeom>
          <a:noFill/>
          <a:ln/>
        </p:spPr>
        <p:txBody>
          <a:bodyPr wrap="square" rtlCol="0" anchor="ctr"/>
          <a:lstStyle/>
          <a:p>
            <a:pPr indent="0" marL="0">
              <a:buNone/>
            </a:pPr>
            <a:r>
              <a:rPr lang="en-US" sz="1600" b="1" dirty="0">
                <a:solidFill>
                  <a:srgbClr val="A62C2C"/>
                </a:solidFill>
                <a:latin typeface="Calibri" pitchFamily="34" charset="0"/>
                <a:ea typeface="Calibri" pitchFamily="34" charset="-122"/>
                <a:cs typeface="Calibri" pitchFamily="34" charset="-120"/>
              </a:rPr>
              <a:t>Why MQL4GRec wins</a:t>
            </a:r>
            <a:endParaRPr lang="en-US" sz="1600" dirty="0"/>
          </a:p>
        </p:txBody>
      </p:sp>
      <p:sp>
        <p:nvSpPr>
          <p:cNvPr id="16" name="Text 14"/>
          <p:cNvSpPr/>
          <p:nvPr/>
        </p:nvSpPr>
        <p:spPr>
          <a:xfrm>
            <a:off x="914400" y="4434840"/>
            <a:ext cx="10332720" cy="137160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TIGER (text-only tokens) does well on Instruments/Arts but falls behind on Games due to no auxiliary content signal</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VIP5 (multimodal but PLM-based) underperforms — modality gap between PLMs and raw image features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MQL4GRec unifies both modalities AND transfers cross-domain knowledge — best or near-best on every metric</a:t>
            </a:r>
            <a:endParaRPr lang="en-US" sz="1350" dirty="0"/>
          </a:p>
        </p:txBody>
      </p:sp>
      <p:sp>
        <p:nvSpPr>
          <p:cNvPr id="17" name="Text 15"/>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14</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500" b="1" dirty="0">
                <a:solidFill>
                  <a:srgbClr val="000000"/>
                </a:solidFill>
                <a:latin typeface="Calibri" pitchFamily="34" charset="0"/>
                <a:ea typeface="Calibri" pitchFamily="34" charset="-122"/>
                <a:cs typeface="Calibri" pitchFamily="34" charset="-120"/>
              </a:rPr>
              <a:t>Head-to-Head: MQL4GRec vs. TIGER (Actual Numbers)</a:t>
            </a:r>
            <a:endParaRPr lang="en-US" sz="2500" dirty="0"/>
          </a:p>
        </p:txBody>
      </p:sp>
      <p:sp>
        <p:nvSpPr>
          <p:cNvPr id="3" name="Shape 1"/>
          <p:cNvSpPr/>
          <p:nvPr/>
        </p:nvSpPr>
        <p:spPr>
          <a:xfrm>
            <a:off x="1540376" y="1024128"/>
            <a:ext cx="9108199" cy="36576"/>
          </a:xfrm>
          <a:prstGeom prst="rect">
            <a:avLst/>
          </a:prstGeom>
          <a:solidFill>
            <a:srgbClr val="FF9900"/>
          </a:solidFill>
          <a:ln/>
        </p:spPr>
      </p:sp>
      <p:sp>
        <p:nvSpPr>
          <p:cNvPr id="4" name="Text 2"/>
          <p:cNvSpPr/>
          <p:nvPr/>
        </p:nvSpPr>
        <p:spPr>
          <a:xfrm>
            <a:off x="640080" y="1280160"/>
            <a:ext cx="10881360" cy="411480"/>
          </a:xfrm>
          <a:prstGeom prst="rect">
            <a:avLst/>
          </a:prstGeom>
          <a:noFill/>
          <a:ln/>
        </p:spPr>
        <p:txBody>
          <a:bodyPr wrap="square" rtlCol="0" anchor="ctr"/>
          <a:lstStyle/>
          <a:p>
            <a:pPr indent="0" marL="0">
              <a:buNone/>
            </a:pPr>
            <a:r>
              <a:rPr lang="en-US" sz="1400" dirty="0">
                <a:solidFill>
                  <a:srgbClr val="222222"/>
                </a:solidFill>
                <a:latin typeface="Calibri" pitchFamily="34" charset="0"/>
                <a:ea typeface="Calibri" pitchFamily="34" charset="-122"/>
                <a:cs typeface="Calibri" pitchFamily="34" charset="-120"/>
              </a:rPr>
              <a:t>TIGER is the strongest prior baseline (also RQ-VAE based). Raw scores from Table 1 of the paper:</a:t>
            </a:r>
            <a:endParaRPr lang="en-US" sz="1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640080" y="1828800"/>
          <a:ext cx="10881360" cy="1828800"/>
        </p:xfrm>
        <a:graphic>
          <a:graphicData uri="http://schemas.openxmlformats.org/drawingml/2006/table">
            <a:tbl>
              <a:tblPr/>
              <a:tblGrid>
                <a:gridCol w="2468880"/>
                <a:gridCol w="2103120"/>
                <a:gridCol w="2103120"/>
                <a:gridCol w="2103120"/>
                <a:gridCol w="2103120"/>
              </a:tblGrid>
              <a:tr h="457200">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Dataset</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HR@10</a:t>
                      </a:r>
                      <a:endParaRPr lang="en-US" sz="1350" dirty="0">
                        <a:latin typeface="Calibri" charset="0"/>
                        <a:ea typeface="Calibri" charset="0"/>
                        <a:cs typeface="Calibri" charset="0"/>
                      </a:endParaRPr>
                    </a:p>
                    <a:p>
                      <a:pPr algn="ctr" indent="0" marL="0">
                        <a:buNone/>
                      </a:pPr>
                      <a:r>
                        <a:rPr lang="en-US" sz="1350" b="1" dirty="0">
                          <a:solidFill>
                            <a:srgbClr val="FFFFFF"/>
                          </a:solidFill>
                          <a:latin typeface="Calibri" pitchFamily="34" charset="0"/>
                          <a:ea typeface="Calibri" pitchFamily="34" charset="-122"/>
                          <a:cs typeface="Calibri" pitchFamily="34" charset="-120"/>
                        </a:rPr>
                        <a:t>(TIGER)</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HR@10</a:t>
                      </a:r>
                      <a:endParaRPr lang="en-US" sz="1350" dirty="0">
                        <a:latin typeface="Calibri" charset="0"/>
                        <a:ea typeface="Calibri" charset="0"/>
                        <a:cs typeface="Calibri" charset="0"/>
                      </a:endParaRPr>
                    </a:p>
                    <a:p>
                      <a:pPr algn="ctr" indent="0" marL="0">
                        <a:buNone/>
                      </a:pPr>
                      <a:r>
                        <a:rPr lang="en-US" sz="1350" b="1" dirty="0">
                          <a:solidFill>
                            <a:srgbClr val="FFFFFF"/>
                          </a:solidFill>
                          <a:latin typeface="Calibri" pitchFamily="34" charset="0"/>
                          <a:ea typeface="Calibri" pitchFamily="34" charset="-122"/>
                          <a:cs typeface="Calibri" pitchFamily="34" charset="-120"/>
                        </a:rPr>
                        <a:t>(MQL4GRec)</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NDCG@10</a:t>
                      </a:r>
                      <a:endParaRPr lang="en-US" sz="1350" dirty="0">
                        <a:latin typeface="Calibri" charset="0"/>
                        <a:ea typeface="Calibri" charset="0"/>
                        <a:cs typeface="Calibri" charset="0"/>
                      </a:endParaRPr>
                    </a:p>
                    <a:p>
                      <a:pPr algn="ctr" indent="0" marL="0">
                        <a:buNone/>
                      </a:pPr>
                      <a:r>
                        <a:rPr lang="en-US" sz="1350" b="1" dirty="0">
                          <a:solidFill>
                            <a:srgbClr val="FFFFFF"/>
                          </a:solidFill>
                          <a:latin typeface="Calibri" pitchFamily="34" charset="0"/>
                          <a:ea typeface="Calibri" pitchFamily="34" charset="-122"/>
                          <a:cs typeface="Calibri" pitchFamily="34" charset="-120"/>
                        </a:rPr>
                        <a:t>(TIGER)</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NDCG@10</a:t>
                      </a:r>
                      <a:endParaRPr lang="en-US" sz="1350" dirty="0">
                        <a:latin typeface="Calibri" charset="0"/>
                        <a:ea typeface="Calibri" charset="0"/>
                        <a:cs typeface="Calibri" charset="0"/>
                      </a:endParaRPr>
                    </a:p>
                    <a:p>
                      <a:pPr algn="ctr" indent="0" marL="0">
                        <a:buNone/>
                      </a:pPr>
                      <a:r>
                        <a:rPr lang="en-US" sz="1350" b="1" dirty="0">
                          <a:solidFill>
                            <a:srgbClr val="FFFFFF"/>
                          </a:solidFill>
                          <a:latin typeface="Calibri" pitchFamily="34" charset="0"/>
                          <a:ea typeface="Calibri" pitchFamily="34" charset="-122"/>
                          <a:cs typeface="Calibri" pitchFamily="34" charset="-120"/>
                        </a:rPr>
                        <a:t>(MQL4GRec)</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r>
              <a:tr h="457200">
                <a:tc>
                  <a:txBody>
                    <a:bodyPr/>
                    <a:lstStyle/>
                    <a:p>
                      <a:pPr algn="l" indent="0" marL="0">
                        <a:buNone/>
                      </a:pPr>
                      <a:r>
                        <a:rPr lang="en-US" sz="1450" b="1" dirty="0">
                          <a:solidFill>
                            <a:srgbClr val="222222"/>
                          </a:solidFill>
                          <a:latin typeface="Calibri" pitchFamily="34" charset="0"/>
                          <a:ea typeface="Calibri" pitchFamily="34" charset="-122"/>
                          <a:cs typeface="Calibri" pitchFamily="34" charset="-120"/>
                        </a:rPr>
                        <a:t>Instruments</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0.1221</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0.1375</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0.0950</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0.1060</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57200">
                <a:tc>
                  <a:txBody>
                    <a:bodyPr/>
                    <a:lstStyle/>
                    <a:p>
                      <a:pPr algn="l" indent="0" marL="0">
                        <a:buNone/>
                      </a:pPr>
                      <a:r>
                        <a:rPr lang="en-US" sz="1450" b="1" dirty="0">
                          <a:solidFill>
                            <a:srgbClr val="222222"/>
                          </a:solidFill>
                          <a:latin typeface="Calibri" pitchFamily="34" charset="0"/>
                          <a:ea typeface="Calibri" pitchFamily="34" charset="-122"/>
                          <a:cs typeface="Calibri" pitchFamily="34" charset="-120"/>
                        </a:rPr>
                        <a:t>Arts</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0.1167</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0.1327</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0.0806</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0.0950</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r>
              <a:tr h="457200">
                <a:tc>
                  <a:txBody>
                    <a:bodyPr/>
                    <a:lstStyle/>
                    <a:p>
                      <a:pPr algn="l" indent="0" marL="0">
                        <a:buNone/>
                      </a:pPr>
                      <a:r>
                        <a:rPr lang="en-US" sz="1450" b="1" dirty="0">
                          <a:solidFill>
                            <a:srgbClr val="222222"/>
                          </a:solidFill>
                          <a:latin typeface="Calibri" pitchFamily="34" charset="0"/>
                          <a:ea typeface="Calibri" pitchFamily="34" charset="-122"/>
                          <a:cs typeface="Calibri" pitchFamily="34" charset="-120"/>
                        </a:rPr>
                        <a:t>Games</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0.0857</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dirty="0">
                          <a:solidFill>
                            <a:srgbClr val="222222"/>
                          </a:solidFill>
                          <a:latin typeface="Calibri" pitchFamily="34" charset="0"/>
                          <a:ea typeface="Calibri" pitchFamily="34" charset="-122"/>
                          <a:cs typeface="Calibri" pitchFamily="34" charset="-120"/>
                        </a:rPr>
                        <a:t>0.1033</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0.0453</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450" b="1" dirty="0">
                          <a:solidFill>
                            <a:srgbClr val="A62C2C"/>
                          </a:solidFill>
                          <a:latin typeface="Calibri" pitchFamily="34" charset="0"/>
                          <a:ea typeface="Calibri" pitchFamily="34" charset="-122"/>
                          <a:cs typeface="Calibri" pitchFamily="34" charset="-120"/>
                        </a:rPr>
                        <a:t>0.0548</a:t>
                      </a:r>
                      <a:endParaRPr lang="en-US" sz="14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bl>
          </a:graphicData>
        </a:graphic>
      </p:graphicFrame>
      <p:sp>
        <p:nvSpPr>
          <p:cNvPr id="6" name="Shape 3"/>
          <p:cNvSpPr/>
          <p:nvPr/>
        </p:nvSpPr>
        <p:spPr>
          <a:xfrm>
            <a:off x="640080" y="3794760"/>
            <a:ext cx="10881360" cy="2240280"/>
          </a:xfrm>
          <a:prstGeom prst="roundRect">
            <a:avLst>
              <a:gd name="adj" fmla="val 244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7" name="Text 4"/>
          <p:cNvSpPr/>
          <p:nvPr/>
        </p:nvSpPr>
        <p:spPr>
          <a:xfrm>
            <a:off x="914400" y="3931920"/>
            <a:ext cx="10332720" cy="365760"/>
          </a:xfrm>
          <a:prstGeom prst="rect">
            <a:avLst/>
          </a:prstGeom>
          <a:noFill/>
          <a:ln/>
        </p:spPr>
        <p:txBody>
          <a:bodyPr wrap="square" rtlCol="0" anchor="ctr"/>
          <a:lstStyle/>
          <a:p>
            <a:pPr indent="0" marL="0">
              <a:buNone/>
            </a:pPr>
            <a:r>
              <a:rPr lang="en-US" sz="1500" b="1" dirty="0">
                <a:solidFill>
                  <a:srgbClr val="A62C2C"/>
                </a:solidFill>
                <a:latin typeface="Calibri" pitchFamily="34" charset="0"/>
                <a:ea typeface="Calibri" pitchFamily="34" charset="-122"/>
                <a:cs typeface="Calibri" pitchFamily="34" charset="-120"/>
              </a:rPr>
              <a:t>Reading the table:</a:t>
            </a:r>
            <a:endParaRPr lang="en-US" sz="1500" dirty="0"/>
          </a:p>
        </p:txBody>
      </p:sp>
      <p:sp>
        <p:nvSpPr>
          <p:cNvPr id="8" name="Text 5"/>
          <p:cNvSpPr/>
          <p:nvPr/>
        </p:nvSpPr>
        <p:spPr>
          <a:xfrm>
            <a:off x="914400" y="4297680"/>
            <a:ext cx="10332720" cy="1645920"/>
          </a:xfrm>
          <a:prstGeom prst="rect">
            <a:avLst/>
          </a:prstGeom>
          <a:noFill/>
          <a:ln/>
        </p:spPr>
        <p:txBody>
          <a:bodyPr wrap="square" rtlCol="0" anchor="t"/>
          <a:lstStyle/>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MQL4GRec beats TIGER on every metric, on all 3 datasets — no exceptions</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The gap is widest on Games (+20.5% HR@10, +21.0% NDCG@10) — exactly where TIGER's text-only tokens fall short</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Full paper Table 1 also compares against GRU4Rec, BERT4Rec, SASRec, FDSA, S³-Rec, VQ-Rec, MISSRec, P5-CID and VIP5 across HR@1/5/10 and NDCG@5/10</a:t>
            </a:r>
            <a:endParaRPr lang="en-US" sz="1300" dirty="0"/>
          </a:p>
        </p:txBody>
      </p:sp>
      <p:sp>
        <p:nvSpPr>
          <p:cNvPr id="9" name="Text 6"/>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15</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Ablation Study Insights</a:t>
            </a:r>
            <a:endParaRPr lang="en-US" sz="3000" dirty="0"/>
          </a:p>
        </p:txBody>
      </p:sp>
      <p:sp>
        <p:nvSpPr>
          <p:cNvPr id="3" name="Shape 1"/>
          <p:cNvSpPr/>
          <p:nvPr/>
        </p:nvSpPr>
        <p:spPr>
          <a:xfrm>
            <a:off x="3442836" y="1024128"/>
            <a:ext cx="5303279" cy="36576"/>
          </a:xfrm>
          <a:prstGeom prst="rect">
            <a:avLst/>
          </a:prstGeom>
          <a:solidFill>
            <a:srgbClr val="FF9900"/>
          </a:solidFill>
          <a:ln/>
        </p:spPr>
      </p:sp>
      <p:sp>
        <p:nvSpPr>
          <p:cNvPr id="4" name="Shape 2"/>
          <p:cNvSpPr/>
          <p:nvPr/>
        </p:nvSpPr>
        <p:spPr>
          <a:xfrm>
            <a:off x="640080" y="1463040"/>
            <a:ext cx="5257800" cy="1554480"/>
          </a:xfrm>
          <a:prstGeom prst="roundRect">
            <a:avLst>
              <a:gd name="adj" fmla="val 352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600200"/>
            <a:ext cx="4709160" cy="41148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Collision Handling Works</a:t>
            </a:r>
            <a:endParaRPr lang="en-US" sz="1550" dirty="0"/>
          </a:p>
        </p:txBody>
      </p:sp>
      <p:sp>
        <p:nvSpPr>
          <p:cNvPr id="6" name="Text 4"/>
          <p:cNvSpPr/>
          <p:nvPr/>
        </p:nvSpPr>
        <p:spPr>
          <a:xfrm>
            <a:off x="914400" y="2011680"/>
            <a:ext cx="4709160" cy="91440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Distance-based reallocation beats TIGER's extra-ID-digit approach on NDCG@10 across all 3 datasets, and on HR@10 for Instruments &amp; Games (near-parity on Arts).</a:t>
            </a:r>
            <a:endParaRPr lang="en-US" sz="1300" dirty="0"/>
          </a:p>
        </p:txBody>
      </p:sp>
      <p:sp>
        <p:nvSpPr>
          <p:cNvPr id="7" name="Shape 5"/>
          <p:cNvSpPr/>
          <p:nvPr/>
        </p:nvSpPr>
        <p:spPr>
          <a:xfrm>
            <a:off x="6263640" y="1463040"/>
            <a:ext cx="5257800" cy="1554480"/>
          </a:xfrm>
          <a:prstGeom prst="roundRect">
            <a:avLst>
              <a:gd name="adj" fmla="val 3529"/>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537960" y="1600200"/>
            <a:ext cx="4709160" cy="41148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AIG Always Helps</a:t>
            </a:r>
            <a:endParaRPr lang="en-US" sz="1550" dirty="0"/>
          </a:p>
        </p:txBody>
      </p:sp>
      <p:sp>
        <p:nvSpPr>
          <p:cNvPr id="9" name="Text 7"/>
          <p:cNvSpPr/>
          <p:nvPr/>
        </p:nvSpPr>
        <p:spPr>
          <a:xfrm>
            <a:off x="6537960" y="2011680"/>
            <a:ext cx="4709160" cy="91440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Adding the Asymmetric Item Generation task consistently boosts performance — cross-modal signal matters.</a:t>
            </a:r>
            <a:endParaRPr lang="en-US" sz="1300" dirty="0"/>
          </a:p>
        </p:txBody>
      </p:sp>
      <p:sp>
        <p:nvSpPr>
          <p:cNvPr id="10" name="Shape 8"/>
          <p:cNvSpPr/>
          <p:nvPr/>
        </p:nvSpPr>
        <p:spPr>
          <a:xfrm>
            <a:off x="640080" y="3154680"/>
            <a:ext cx="5257800" cy="1554480"/>
          </a:xfrm>
          <a:prstGeom prst="roundRect">
            <a:avLst>
              <a:gd name="adj" fmla="val 3529"/>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914400" y="3291840"/>
            <a:ext cx="4709160" cy="41148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QLA Needs AIG</a:t>
            </a:r>
            <a:endParaRPr lang="en-US" sz="1550" dirty="0"/>
          </a:p>
        </p:txBody>
      </p:sp>
      <p:sp>
        <p:nvSpPr>
          <p:cNvPr id="12" name="Text 10"/>
          <p:cNvSpPr/>
          <p:nvPr/>
        </p:nvSpPr>
        <p:spPr>
          <a:xfrm>
            <a:off x="914400" y="3703320"/>
            <a:ext cx="4709160" cy="91440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QLA alone gives little benefit; paired with AIG it produces the best results — alignment needs cross-modal grounding first.</a:t>
            </a:r>
            <a:endParaRPr lang="en-US" sz="1300" dirty="0"/>
          </a:p>
        </p:txBody>
      </p:sp>
      <p:sp>
        <p:nvSpPr>
          <p:cNvPr id="13" name="Shape 11"/>
          <p:cNvSpPr/>
          <p:nvPr/>
        </p:nvSpPr>
        <p:spPr>
          <a:xfrm>
            <a:off x="6263640" y="3154680"/>
            <a:ext cx="5257800" cy="1554480"/>
          </a:xfrm>
          <a:prstGeom prst="roundRect">
            <a:avLst>
              <a:gd name="adj" fmla="val 3529"/>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537960" y="3291840"/>
            <a:ext cx="4709160" cy="41148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Pre-training: Mixed on Games</a:t>
            </a:r>
            <a:endParaRPr lang="en-US" sz="1550" dirty="0"/>
          </a:p>
        </p:txBody>
      </p:sp>
      <p:sp>
        <p:nvSpPr>
          <p:cNvPr id="15" name="Text 13"/>
          <p:cNvSpPr/>
          <p:nvPr/>
        </p:nvSpPr>
        <p:spPr>
          <a:xfrm>
            <a:off x="6537960" y="3703320"/>
            <a:ext cx="4709160" cy="914400"/>
          </a:xfrm>
          <a:prstGeom prst="rect">
            <a:avLst/>
          </a:prstGeom>
          <a:noFill/>
          <a:ln/>
        </p:spPr>
        <p:txBody>
          <a:bodyPr wrap="square" rtlCol="0" anchor="ctr"/>
          <a:lstStyle/>
          <a:p>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Helps Instruments &amp; Arts steadily; on Games it can hurt — likely domain mismatch / overfitting with source data.</a:t>
            </a:r>
            <a:endParaRPr lang="en-US" sz="1300" dirty="0"/>
          </a:p>
        </p:txBody>
      </p:sp>
      <p:sp>
        <p:nvSpPr>
          <p:cNvPr id="16" name="Text 14"/>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16</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900" b="1" dirty="0">
                <a:solidFill>
                  <a:srgbClr val="000000"/>
                </a:solidFill>
                <a:latin typeface="Calibri" pitchFamily="34" charset="0"/>
                <a:ea typeface="Calibri" pitchFamily="34" charset="-122"/>
                <a:cs typeface="Calibri" pitchFamily="34" charset="-120"/>
              </a:rPr>
              <a:t>Bonus Finding: Zero-Shot Capability</a:t>
            </a:r>
            <a:endParaRPr lang="en-US" sz="2900" dirty="0"/>
          </a:p>
        </p:txBody>
      </p:sp>
      <p:sp>
        <p:nvSpPr>
          <p:cNvPr id="3" name="Shape 1"/>
          <p:cNvSpPr/>
          <p:nvPr/>
        </p:nvSpPr>
        <p:spPr>
          <a:xfrm>
            <a:off x="2287136" y="1024128"/>
            <a:ext cx="7614679" cy="36576"/>
          </a:xfrm>
          <a:prstGeom prst="rect">
            <a:avLst/>
          </a:prstGeom>
          <a:solidFill>
            <a:srgbClr val="FF9900"/>
          </a:solidFill>
          <a:ln/>
        </p:spPr>
      </p:sp>
      <p:sp>
        <p:nvSpPr>
          <p:cNvPr id="4" name="Text 2"/>
          <p:cNvSpPr/>
          <p:nvPr/>
        </p:nvSpPr>
        <p:spPr>
          <a:xfrm>
            <a:off x="640080" y="1325880"/>
            <a:ext cx="10881360" cy="502920"/>
          </a:xfrm>
          <a:prstGeom prst="rect">
            <a:avLst/>
          </a:prstGeom>
          <a:noFill/>
          <a:ln/>
        </p:spPr>
        <p:txBody>
          <a:bodyPr wrap="square" rtlCol="0" anchor="ctr"/>
          <a:lstStyle/>
          <a:p>
            <a:pPr indent="0" marL="0">
              <a:lnSpc>
                <a:spcPct val="120000"/>
              </a:lnSpc>
              <a:buNone/>
            </a:pPr>
            <a:r>
              <a:rPr lang="en-US" sz="1400" dirty="0">
                <a:solidFill>
                  <a:srgbClr val="222222"/>
                </a:solidFill>
                <a:latin typeface="Calibri" pitchFamily="34" charset="0"/>
                <a:ea typeface="Calibri" pitchFamily="34" charset="-122"/>
                <a:cs typeface="Calibri" pitchFamily="34" charset="-120"/>
              </a:rPr>
              <a:t>Does a model pre-trained only on source domains say anything useful about a target domain it has NEVER been fine-tuned on?</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1737360" y="1965960"/>
          <a:ext cx="8686800" cy="2148840"/>
        </p:xfrm>
        <a:graphic>
          <a:graphicData uri="http://schemas.openxmlformats.org/drawingml/2006/table">
            <a:tbl>
              <a:tblPr/>
              <a:tblGrid>
                <a:gridCol w="3200400"/>
                <a:gridCol w="1828800"/>
                <a:gridCol w="1828800"/>
                <a:gridCol w="1828800"/>
              </a:tblGrid>
              <a:tr h="42976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 Source Domains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Used to Pre-train</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Instruments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HR@10</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Arts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HR@10</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Games</a:t>
                      </a:r>
                      <a:endParaRPr lang="en-US" sz="1300" dirty="0">
                        <a:latin typeface="Calibri" charset="0"/>
                        <a:ea typeface="Calibri" charset="0"/>
                        <a:cs typeface="Calibri" charset="0"/>
                      </a:endParaRPr>
                    </a:p>
                    <a:p>
                      <a:pPr algn="ctr" indent="0" marL="0">
                        <a:buNone/>
                      </a:pPr>
                      <a:r>
                        <a:rPr lang="en-US" sz="1300" b="1" dirty="0">
                          <a:solidFill>
                            <a:srgbClr val="FFFFFF"/>
                          </a:solidFill>
                          <a:latin typeface="Calibri" pitchFamily="34" charset="0"/>
                          <a:ea typeface="Calibri" pitchFamily="34" charset="-122"/>
                          <a:cs typeface="Calibri" pitchFamily="34" charset="-120"/>
                        </a:rPr>
                        <a:t>HR@10</a:t>
                      </a:r>
                      <a:endParaRPr lang="en-US" sz="13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r>
              <a:tr h="429768">
                <a:tc>
                  <a:txBody>
                    <a:bodyPr/>
                    <a:lstStyle/>
                    <a:p>
                      <a:pPr algn="ctr" indent="0" marL="0">
                        <a:buNone/>
                      </a:pPr>
                      <a:r>
                        <a:rPr lang="en-US" sz="1350" b="1" dirty="0">
                          <a:solidFill>
                            <a:srgbClr val="222222"/>
                          </a:solidFill>
                          <a:latin typeface="Calibri" pitchFamily="34" charset="0"/>
                          <a:ea typeface="Calibri" pitchFamily="34" charset="-122"/>
                          <a:cs typeface="Calibri" pitchFamily="34" charset="-120"/>
                        </a:rPr>
                        <a:t>0  (random init)</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0.00099</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0.00113</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0.00066</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29768">
                <a:tc>
                  <a:txBody>
                    <a:bodyPr/>
                    <a:lstStyle/>
                    <a:p>
                      <a:pPr algn="ctr" indent="0" marL="0">
                        <a:buNone/>
                      </a:pPr>
                      <a:r>
                        <a:rPr lang="en-US" sz="1350" b="1" dirty="0">
                          <a:solidFill>
                            <a:srgbClr val="222222"/>
                          </a:solidFill>
                          <a:latin typeface="Calibri" pitchFamily="34" charset="0"/>
                          <a:ea typeface="Calibri" pitchFamily="34" charset="-122"/>
                          <a:cs typeface="Calibri" pitchFamily="34" charset="-120"/>
                        </a:rPr>
                        <a:t>2</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0.00240</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0.00140</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0.00109</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r>
              <a:tr h="429768">
                <a:tc>
                  <a:txBody>
                    <a:bodyPr/>
                    <a:lstStyle/>
                    <a:p>
                      <a:pPr algn="ctr" indent="0" marL="0">
                        <a:buNone/>
                      </a:pPr>
                      <a:r>
                        <a:rPr lang="en-US" sz="1350" b="1" dirty="0">
                          <a:solidFill>
                            <a:srgbClr val="222222"/>
                          </a:solidFill>
                          <a:latin typeface="Calibri" pitchFamily="34" charset="0"/>
                          <a:ea typeface="Calibri" pitchFamily="34" charset="-122"/>
                          <a:cs typeface="Calibri" pitchFamily="34" charset="-120"/>
                        </a:rPr>
                        <a:t>4</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0.00310</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0.00298</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0.00054</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429768">
                <a:tc>
                  <a:txBody>
                    <a:bodyPr/>
                    <a:lstStyle/>
                    <a:p>
                      <a:pPr algn="ctr" indent="0" marL="0">
                        <a:buNone/>
                      </a:pPr>
                      <a:r>
                        <a:rPr lang="en-US" sz="1350" b="1" dirty="0">
                          <a:solidFill>
                            <a:srgbClr val="222222"/>
                          </a:solidFill>
                          <a:latin typeface="Calibri" pitchFamily="34" charset="0"/>
                          <a:ea typeface="Calibri" pitchFamily="34" charset="-122"/>
                          <a:cs typeface="Calibri" pitchFamily="34" charset="-120"/>
                        </a:rPr>
                        <a:t>6</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0.00345</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0.00311</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0.00116</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r>
            </a:tbl>
          </a:graphicData>
        </a:graphic>
      </p:graphicFrame>
      <p:sp>
        <p:nvSpPr>
          <p:cNvPr id="6" name="Shape 3"/>
          <p:cNvSpPr/>
          <p:nvPr/>
        </p:nvSpPr>
        <p:spPr>
          <a:xfrm>
            <a:off x="640080" y="4343400"/>
            <a:ext cx="10881360" cy="1691640"/>
          </a:xfrm>
          <a:prstGeom prst="roundRect">
            <a:avLst>
              <a:gd name="adj" fmla="val 3243"/>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7" name="Text 4"/>
          <p:cNvSpPr/>
          <p:nvPr/>
        </p:nvSpPr>
        <p:spPr>
          <a:xfrm>
            <a:off x="914400" y="4480560"/>
            <a:ext cx="10332720" cy="365760"/>
          </a:xfrm>
          <a:prstGeom prst="rect">
            <a:avLst/>
          </a:prstGeom>
          <a:noFill/>
          <a:ln/>
        </p:spPr>
        <p:txBody>
          <a:bodyPr wrap="square" rtlCol="0" anchor="ctr"/>
          <a:lstStyle/>
          <a:p>
            <a:pPr indent="0" marL="0">
              <a:buNone/>
            </a:pPr>
            <a:r>
              <a:rPr lang="en-US" sz="1500" b="1" dirty="0">
                <a:solidFill>
                  <a:srgbClr val="A62C2C"/>
                </a:solidFill>
                <a:latin typeface="Calibri" pitchFamily="34" charset="0"/>
                <a:ea typeface="Calibri" pitchFamily="34" charset="-122"/>
                <a:cs typeface="Calibri" pitchFamily="34" charset="-120"/>
              </a:rPr>
              <a:t>What this means:</a:t>
            </a:r>
            <a:endParaRPr lang="en-US" sz="1500" dirty="0"/>
          </a:p>
        </p:txBody>
      </p:sp>
      <p:sp>
        <p:nvSpPr>
          <p:cNvPr id="8" name="Text 5"/>
          <p:cNvSpPr/>
          <p:nvPr/>
        </p:nvSpPr>
        <p:spPr>
          <a:xfrm>
            <a:off x="914400" y="4846320"/>
            <a:ext cx="10332720" cy="1143000"/>
          </a:xfrm>
          <a:prstGeom prst="rect">
            <a:avLst/>
          </a:prstGeom>
          <a:noFill/>
          <a:ln/>
        </p:spPr>
        <p:txBody>
          <a:bodyPr wrap="square" rtlCol="0" anchor="t"/>
          <a:lstStyle/>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With ZERO fine-tuning, more pre-training domains → consistently better (though still weak) scores on Instruments &amp; Arts</a:t>
            </a:r>
            <a:endParaRPr lang="en-US" sz="1300" dirty="0"/>
          </a:p>
          <a:p>
            <a:pPr marL="342900" indent="-342900">
              <a:lnSpc>
                <a:spcPct val="130000"/>
              </a:lnSpc>
              <a:spcAft>
                <a:spcPts val="800"/>
              </a:spcAft>
              <a:buSzPct val="100000"/>
              <a:buChar char="•"/>
            </a:pPr>
            <a:r>
              <a:rPr lang="en-US" sz="1300" dirty="0">
                <a:solidFill>
                  <a:srgbClr val="222222"/>
                </a:solidFill>
                <a:latin typeface="Calibri" pitchFamily="34" charset="0"/>
                <a:ea typeface="Calibri" pitchFamily="34" charset="-122"/>
                <a:cs typeface="Calibri" pitchFamily="34" charset="-120"/>
              </a:rPr>
              <a:t>Games barely improves — the paper attributes this to scarce pre-training data and the model's limited parameter count, causing insufficient generalization</a:t>
            </a:r>
            <a:endParaRPr lang="en-US" sz="1300" dirty="0"/>
          </a:p>
        </p:txBody>
      </p:sp>
      <p:sp>
        <p:nvSpPr>
          <p:cNvPr id="9" name="Text 6"/>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17</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900" b="1" dirty="0">
                <a:solidFill>
                  <a:srgbClr val="000000"/>
                </a:solidFill>
                <a:latin typeface="Calibri" pitchFamily="34" charset="0"/>
                <a:ea typeface="Calibri" pitchFamily="34" charset="-122"/>
                <a:cs typeface="Calibri" pitchFamily="34" charset="-120"/>
              </a:rPr>
              <a:t>What Makes MQL4GRec Different</a:t>
            </a:r>
            <a:endParaRPr lang="en-US" sz="2900" dirty="0"/>
          </a:p>
        </p:txBody>
      </p:sp>
      <p:sp>
        <p:nvSpPr>
          <p:cNvPr id="3" name="Shape 1"/>
          <p:cNvSpPr/>
          <p:nvPr/>
        </p:nvSpPr>
        <p:spPr>
          <a:xfrm>
            <a:off x="2905880" y="1024128"/>
            <a:ext cx="6377191" cy="36576"/>
          </a:xfrm>
          <a:prstGeom prst="rect">
            <a:avLst/>
          </a:prstGeom>
          <a:solidFill>
            <a:srgbClr val="FF9900"/>
          </a:solidFill>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640080" y="1463040"/>
          <a:ext cx="10881360" cy="2514600"/>
        </p:xfrm>
        <a:graphic>
          <a:graphicData uri="http://schemas.openxmlformats.org/drawingml/2006/table">
            <a:tbl>
              <a:tblPr/>
              <a:tblGrid>
                <a:gridCol w="1920240"/>
                <a:gridCol w="2103120"/>
                <a:gridCol w="2834640"/>
                <a:gridCol w="4023360"/>
              </a:tblGrid>
              <a:tr h="566928">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Method</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Modality</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Cross-domain Transfer</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Item ID Strategy</a:t>
                      </a:r>
                      <a:endParaRPr lang="en-US" sz="140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9900"/>
                    </a:solidFill>
                  </a:tcPr>
                </a:tc>
              </a:tr>
              <a:tr h="566928">
                <a:tc>
                  <a:txBody>
                    <a:bodyPr/>
                    <a:lstStyle/>
                    <a:p>
                      <a:pPr algn="l" indent="0" marL="0">
                        <a:buNone/>
                      </a:pPr>
                      <a:r>
                        <a:rPr lang="en-US" sz="1350" b="1" dirty="0">
                          <a:solidFill>
                            <a:srgbClr val="222222"/>
                          </a:solidFill>
                          <a:latin typeface="Calibri" pitchFamily="34" charset="0"/>
                          <a:ea typeface="Calibri" pitchFamily="34" charset="-122"/>
                          <a:cs typeface="Calibri" pitchFamily="34" charset="-120"/>
                        </a:rPr>
                        <a:t>TIGER</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Text only</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 No</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RQ-VAE + extra digit for collisions</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66928">
                <a:tc>
                  <a:txBody>
                    <a:bodyPr/>
                    <a:lstStyle/>
                    <a:p>
                      <a:pPr algn="l" indent="0" marL="0">
                        <a:buNone/>
                      </a:pPr>
                      <a:r>
                        <a:rPr lang="en-US" sz="1350" b="1" dirty="0">
                          <a:solidFill>
                            <a:srgbClr val="222222"/>
                          </a:solidFill>
                          <a:latin typeface="Calibri" pitchFamily="34" charset="0"/>
                          <a:ea typeface="Calibri" pitchFamily="34" charset="-122"/>
                          <a:cs typeface="Calibri" pitchFamily="34" charset="-120"/>
                        </a:rPr>
                        <a:t>VIP5</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Text + Image</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 No</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PLM prompt-based, weak image fusion</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AD1DC"/>
                    </a:solidFill>
                  </a:tcPr>
                </a:tc>
              </a:tr>
              <a:tr h="566928">
                <a:tc>
                  <a:txBody>
                    <a:bodyPr/>
                    <a:lstStyle/>
                    <a:p>
                      <a:pPr algn="l" indent="0" marL="0">
                        <a:buNone/>
                      </a:pPr>
                      <a:r>
                        <a:rPr lang="en-US" sz="1350" b="1" dirty="0">
                          <a:solidFill>
                            <a:srgbClr val="222222"/>
                          </a:solidFill>
                          <a:latin typeface="Calibri" pitchFamily="34" charset="0"/>
                          <a:ea typeface="Calibri" pitchFamily="34" charset="-122"/>
                          <a:cs typeface="Calibri" pitchFamily="34" charset="-120"/>
                        </a:rPr>
                        <a:t>P5-CID</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Text only</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 No</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ctr" indent="0" marL="0">
                        <a:buNone/>
                      </a:pPr>
                      <a:r>
                        <a:rPr lang="en-US" sz="1350" dirty="0">
                          <a:solidFill>
                            <a:srgbClr val="222222"/>
                          </a:solidFill>
                          <a:latin typeface="Calibri" pitchFamily="34" charset="0"/>
                          <a:ea typeface="Calibri" pitchFamily="34" charset="-122"/>
                          <a:cs typeface="Calibri" pitchFamily="34" charset="-120"/>
                        </a:rPr>
                        <a:t>Collaborative indexing</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r>
              <a:tr h="566928">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MQL4GRec</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62C2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Text + Image</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62C2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 Yes (6 source domains)</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62C2C"/>
                    </a:solidFill>
                  </a:tcPr>
                </a:tc>
                <a:tc>
                  <a:txBody>
                    <a:bodyPr/>
                    <a:lstStyle/>
                    <a:p>
                      <a:pPr algn="ctr" indent="0" marL="0">
                        <a:buNone/>
                      </a:pPr>
                      <a:r>
                        <a:rPr lang="en-US" sz="1350" b="1" dirty="0">
                          <a:solidFill>
                            <a:srgbClr val="FFFFFF"/>
                          </a:solidFill>
                          <a:latin typeface="Calibri" pitchFamily="34" charset="0"/>
                          <a:ea typeface="Calibri" pitchFamily="34" charset="-122"/>
                          <a:cs typeface="Calibri" pitchFamily="34" charset="-120"/>
                        </a:rPr>
                        <a:t>Unified quantitative language + smart collision fix</a:t>
                      </a:r>
                      <a:endParaRPr lang="en-US" sz="1350" dirty="0">
                        <a:latin typeface="Calibri" charset="0"/>
                        <a:ea typeface="Calibri" charset="0"/>
                        <a:cs typeface="Calibri" charset="0"/>
                      </a:endParaRPr>
                    </a:p>
                  </a:txBody>
                  <a:tcPr marL="91440" marR="91440" marT="45720" marB="45720" anchor="ctr">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A62C2C"/>
                    </a:solidFill>
                  </a:tcPr>
                </a:tc>
              </a:tr>
            </a:tbl>
          </a:graphicData>
        </a:graphic>
      </p:graphicFrame>
      <p:sp>
        <p:nvSpPr>
          <p:cNvPr id="5" name="Shape 2"/>
          <p:cNvSpPr/>
          <p:nvPr/>
        </p:nvSpPr>
        <p:spPr>
          <a:xfrm>
            <a:off x="640080" y="4709160"/>
            <a:ext cx="10881360" cy="1463040"/>
          </a:xfrm>
          <a:prstGeom prst="roundRect">
            <a:avLst>
              <a:gd name="adj" fmla="val 375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6" name="Text 3"/>
          <p:cNvSpPr/>
          <p:nvPr/>
        </p:nvSpPr>
        <p:spPr>
          <a:xfrm>
            <a:off x="914400" y="4846320"/>
            <a:ext cx="10332720" cy="365760"/>
          </a:xfrm>
          <a:prstGeom prst="rect">
            <a:avLst/>
          </a:prstGeom>
          <a:noFill/>
          <a:ln/>
        </p:spPr>
        <p:txBody>
          <a:bodyPr wrap="square" rtlCol="0" anchor="ctr"/>
          <a:lstStyle/>
          <a:p>
            <a:pPr indent="0" marL="0">
              <a:buNone/>
            </a:pPr>
            <a:r>
              <a:rPr lang="en-US" sz="1550" b="1" dirty="0">
                <a:solidFill>
                  <a:srgbClr val="A62C2C"/>
                </a:solidFill>
                <a:latin typeface="Calibri" pitchFamily="34" charset="0"/>
                <a:ea typeface="Calibri" pitchFamily="34" charset="-122"/>
                <a:cs typeface="Calibri" pitchFamily="34" charset="-120"/>
              </a:rPr>
              <a:t>Gap this paper addresses:</a:t>
            </a:r>
            <a:endParaRPr lang="en-US" sz="1550" dirty="0"/>
          </a:p>
        </p:txBody>
      </p:sp>
      <p:sp>
        <p:nvSpPr>
          <p:cNvPr id="7" name="Text 4"/>
          <p:cNvSpPr/>
          <p:nvPr/>
        </p:nvSpPr>
        <p:spPr>
          <a:xfrm>
            <a:off x="914400" y="5193792"/>
            <a:ext cx="10332720" cy="914400"/>
          </a:xfrm>
          <a:prstGeom prst="rect">
            <a:avLst/>
          </a:prstGeom>
          <a:noFill/>
          <a:ln/>
        </p:spPr>
        <p:txBody>
          <a:bodyPr wrap="square" rtlCol="0" anchor="ctr"/>
          <a:lstStyle/>
          <a:p>
            <a:pPr indent="0" marL="0">
              <a:lnSpc>
                <a:spcPct val="130000"/>
              </a:lnSpc>
              <a:buNone/>
            </a:pPr>
            <a:r>
              <a:rPr lang="en-US" sz="1400" dirty="0">
                <a:solidFill>
                  <a:srgbClr val="222222"/>
                </a:solidFill>
                <a:latin typeface="Calibri" pitchFamily="34" charset="0"/>
                <a:ea typeface="Calibri" pitchFamily="34" charset="-122"/>
                <a:cs typeface="Calibri" pitchFamily="34" charset="-120"/>
              </a:rPr>
              <a:t>No prior generative recommender combined a shared multimodal token vocabulary with explicit cross-domain pre-training AND a principled collision-resolution scheme — MQL4GRec is the first to unify all three.</a:t>
            </a:r>
            <a:endParaRPr lang="en-US" sz="1400" dirty="0"/>
          </a:p>
        </p:txBody>
      </p:sp>
      <p:sp>
        <p:nvSpPr>
          <p:cNvPr id="8" name="Text 5"/>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18</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2900" b="1" dirty="0">
                <a:solidFill>
                  <a:srgbClr val="000000"/>
                </a:solidFill>
                <a:latin typeface="Calibri" pitchFamily="34" charset="0"/>
                <a:ea typeface="Calibri" pitchFamily="34" charset="-122"/>
                <a:cs typeface="Calibri" pitchFamily="34" charset="-120"/>
              </a:rPr>
              <a:t>Limitations &amp; Conclusion</a:t>
            </a:r>
            <a:endParaRPr lang="en-US" sz="2900" dirty="0"/>
          </a:p>
        </p:txBody>
      </p:sp>
      <p:sp>
        <p:nvSpPr>
          <p:cNvPr id="3" name="Shape 1"/>
          <p:cNvSpPr/>
          <p:nvPr/>
        </p:nvSpPr>
        <p:spPr>
          <a:xfrm>
            <a:off x="3421500" y="1024128"/>
            <a:ext cx="5345951" cy="36576"/>
          </a:xfrm>
          <a:prstGeom prst="rect">
            <a:avLst/>
          </a:prstGeom>
          <a:solidFill>
            <a:srgbClr val="FF9900"/>
          </a:solidFill>
          <a:ln/>
        </p:spPr>
      </p:sp>
      <p:sp>
        <p:nvSpPr>
          <p:cNvPr id="4" name="Shape 2"/>
          <p:cNvSpPr/>
          <p:nvPr/>
        </p:nvSpPr>
        <p:spPr>
          <a:xfrm>
            <a:off x="640080" y="1417320"/>
            <a:ext cx="5257800" cy="2743200"/>
          </a:xfrm>
          <a:prstGeom prst="roundRect">
            <a:avLst>
              <a:gd name="adj" fmla="val 200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554480"/>
            <a:ext cx="4709160" cy="365760"/>
          </a:xfrm>
          <a:prstGeom prst="rect">
            <a:avLst/>
          </a:prstGeom>
          <a:noFill/>
          <a:ln/>
        </p:spPr>
        <p:txBody>
          <a:bodyPr wrap="square" rtlCol="0" anchor="ctr"/>
          <a:lstStyle/>
          <a:p>
            <a:pPr indent="0" marL="0">
              <a:buNone/>
            </a:pPr>
            <a:r>
              <a:rPr lang="en-US" sz="1650" b="1" dirty="0">
                <a:solidFill>
                  <a:srgbClr val="A62C2C"/>
                </a:solidFill>
                <a:latin typeface="Calibri" pitchFamily="34" charset="0"/>
                <a:ea typeface="Calibri" pitchFamily="34" charset="-122"/>
                <a:cs typeface="Calibri" pitchFamily="34" charset="-120"/>
              </a:rPr>
              <a:t>Limitations</a:t>
            </a:r>
            <a:endParaRPr lang="en-US" sz="1650" dirty="0"/>
          </a:p>
        </p:txBody>
      </p:sp>
      <p:sp>
        <p:nvSpPr>
          <p:cNvPr id="6" name="Text 4"/>
          <p:cNvSpPr/>
          <p:nvPr/>
        </p:nvSpPr>
        <p:spPr>
          <a:xfrm>
            <a:off x="914400" y="2011680"/>
            <a:ext cx="4709160" cy="201168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Slower inference — beam search + autoregressive generation vs. traditional ranking models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Requires item content (text + image) — scenario of missing content not yet studied</a:t>
            </a:r>
            <a:endParaRPr lang="en-US" sz="1350" dirty="0"/>
          </a:p>
        </p:txBody>
      </p:sp>
      <p:sp>
        <p:nvSpPr>
          <p:cNvPr id="7" name="Shape 5"/>
          <p:cNvSpPr/>
          <p:nvPr/>
        </p:nvSpPr>
        <p:spPr>
          <a:xfrm>
            <a:off x="6263640" y="1417320"/>
            <a:ext cx="5257800" cy="2743200"/>
          </a:xfrm>
          <a:prstGeom prst="roundRect">
            <a:avLst>
              <a:gd name="adj" fmla="val 2000"/>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537960" y="1554480"/>
            <a:ext cx="4709160" cy="365760"/>
          </a:xfrm>
          <a:prstGeom prst="rect">
            <a:avLst/>
          </a:prstGeom>
          <a:noFill/>
          <a:ln/>
        </p:spPr>
        <p:txBody>
          <a:bodyPr wrap="square" rtlCol="0" anchor="ctr"/>
          <a:lstStyle/>
          <a:p>
            <a:pPr indent="0" marL="0">
              <a:buNone/>
            </a:pPr>
            <a:r>
              <a:rPr lang="en-US" sz="1650" b="1" dirty="0">
                <a:solidFill>
                  <a:srgbClr val="A62C2C"/>
                </a:solidFill>
                <a:latin typeface="Calibri" pitchFamily="34" charset="0"/>
                <a:ea typeface="Calibri" pitchFamily="34" charset="-122"/>
                <a:cs typeface="Calibri" pitchFamily="34" charset="-120"/>
              </a:rPr>
              <a:t>Conclusion</a:t>
            </a:r>
            <a:endParaRPr lang="en-US" sz="1650" dirty="0"/>
          </a:p>
        </p:txBody>
      </p:sp>
      <p:sp>
        <p:nvSpPr>
          <p:cNvPr id="9" name="Text 7"/>
          <p:cNvSpPr/>
          <p:nvPr/>
        </p:nvSpPr>
        <p:spPr>
          <a:xfrm>
            <a:off x="6537960" y="2011680"/>
            <a:ext cx="4709160" cy="2011680"/>
          </a:xfrm>
          <a:prstGeom prst="rect">
            <a:avLst/>
          </a:prstGeom>
          <a:noFill/>
          <a:ln/>
        </p:spPr>
        <p:txBody>
          <a:bodyPr wrap="square" rtlCol="0" anchor="t"/>
          <a:lstStyle/>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Unified quantitative language bridges domains + modalities without traditional item IDs</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Pre-training + fine-tuning transfers recommendation knowledge effectively</a:t>
            </a:r>
            <a:endParaRPr lang="en-US" sz="1350" dirty="0"/>
          </a:p>
          <a:p>
            <a:pPr marL="342900" indent="-342900">
              <a:lnSpc>
                <a:spcPct val="130000"/>
              </a:lnSpc>
              <a:spcAft>
                <a:spcPts val="800"/>
              </a:spcAft>
              <a:buSzPct val="100000"/>
              <a:buChar char="•"/>
            </a:pPr>
            <a:r>
              <a:rPr lang="en-US" sz="1350" dirty="0">
                <a:solidFill>
                  <a:srgbClr val="222222"/>
                </a:solidFill>
                <a:latin typeface="Calibri" pitchFamily="34" charset="0"/>
                <a:ea typeface="Calibri" pitchFamily="34" charset="-122"/>
                <a:cs typeface="Calibri" pitchFamily="34" charset="-120"/>
              </a:rPr>
              <a:t>A meaningful step toward universal, scalable recommendation models</a:t>
            </a:r>
            <a:endParaRPr lang="en-US" sz="1350" dirty="0"/>
          </a:p>
        </p:txBody>
      </p:sp>
      <p:sp>
        <p:nvSpPr>
          <p:cNvPr id="10" name="Shape 8"/>
          <p:cNvSpPr/>
          <p:nvPr/>
        </p:nvSpPr>
        <p:spPr>
          <a:xfrm>
            <a:off x="640080" y="4434840"/>
            <a:ext cx="10881360" cy="1600200"/>
          </a:xfrm>
          <a:prstGeom prst="roundRect">
            <a:avLst>
              <a:gd name="adj" fmla="val 3429"/>
            </a:avLst>
          </a:prstGeom>
          <a:solidFill>
            <a:srgbClr val="EEEEEE"/>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914400" y="4572000"/>
            <a:ext cx="10332720" cy="1325880"/>
          </a:xfrm>
          <a:prstGeom prst="rect">
            <a:avLst/>
          </a:prstGeom>
          <a:noFill/>
          <a:ln/>
        </p:spPr>
        <p:txBody>
          <a:bodyPr wrap="square" rtlCol="0" anchor="ctr"/>
          <a:lstStyle/>
          <a:p>
            <a:pPr indent="0" marL="0">
              <a:lnSpc>
                <a:spcPct val="135000"/>
              </a:lnSpc>
              <a:buNone/>
            </a:pPr>
            <a:r>
              <a:rPr lang="en-US" sz="1400" b="1" i="1" dirty="0">
                <a:solidFill>
                  <a:srgbClr val="222222"/>
                </a:solidFill>
                <a:latin typeface="Calibri" pitchFamily="34" charset="0"/>
                <a:ea typeface="Calibri" pitchFamily="34" charset="-122"/>
                <a:cs typeface="Calibri" pitchFamily="34" charset="-120"/>
              </a:rPr>
              <a:t>★  The system doesn't rely on traditional item IDs — it bridges domains and modalities through a shared, semantically-grounded token language, achieving 11.18% / 14.82% / 7.95% NDCG gains over baselines.</a:t>
            </a:r>
            <a:endParaRPr lang="en-US" sz="14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19</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000" b="1" dirty="0">
                <a:solidFill>
                  <a:srgbClr val="000000"/>
                </a:solidFill>
                <a:latin typeface="Calibri" pitchFamily="34" charset="0"/>
                <a:ea typeface="Calibri" pitchFamily="34" charset="-122"/>
                <a:cs typeface="Calibri" pitchFamily="34" charset="-120"/>
              </a:rPr>
              <a:t>Anticipated Questions</a:t>
            </a:r>
            <a:endParaRPr lang="en-US" sz="3000" dirty="0"/>
          </a:p>
        </p:txBody>
      </p:sp>
      <p:sp>
        <p:nvSpPr>
          <p:cNvPr id="3" name="Shape 1"/>
          <p:cNvSpPr/>
          <p:nvPr/>
        </p:nvSpPr>
        <p:spPr>
          <a:xfrm>
            <a:off x="3656196" y="1024128"/>
            <a:ext cx="4876559" cy="36576"/>
          </a:xfrm>
          <a:prstGeom prst="rect">
            <a:avLst/>
          </a:prstGeom>
          <a:solidFill>
            <a:srgbClr val="FF9900"/>
          </a:solidFill>
          <a:ln/>
        </p:spPr>
      </p:sp>
      <p:sp>
        <p:nvSpPr>
          <p:cNvPr id="4" name="Shape 2"/>
          <p:cNvSpPr/>
          <p:nvPr/>
        </p:nvSpPr>
        <p:spPr>
          <a:xfrm>
            <a:off x="640080" y="1371600"/>
            <a:ext cx="5257800" cy="1325880"/>
          </a:xfrm>
          <a:prstGeom prst="roundRect">
            <a:avLst>
              <a:gd name="adj" fmla="val 413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868680" y="146304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Why RQ-VAE instead of simple hashing/clustering for IDs?</a:t>
            </a:r>
            <a:endParaRPr lang="en-US" sz="1300" dirty="0"/>
          </a:p>
        </p:txBody>
      </p:sp>
      <p:sp>
        <p:nvSpPr>
          <p:cNvPr id="6" name="Text 4"/>
          <p:cNvSpPr/>
          <p:nvPr/>
        </p:nvSpPr>
        <p:spPr>
          <a:xfrm>
            <a:off x="868680" y="199339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RQ-VAE preserves semantic distance — similar items land on similar codewords — whereas hashing gives every item an arbitrary, unrelated ID.</a:t>
            </a:r>
            <a:endParaRPr lang="en-US" sz="1200" dirty="0"/>
          </a:p>
        </p:txBody>
      </p:sp>
      <p:sp>
        <p:nvSpPr>
          <p:cNvPr id="7" name="Shape 5"/>
          <p:cNvSpPr/>
          <p:nvPr/>
        </p:nvSpPr>
        <p:spPr>
          <a:xfrm>
            <a:off x="6263640" y="1371600"/>
            <a:ext cx="5257800" cy="1325880"/>
          </a:xfrm>
          <a:prstGeom prst="roundRect">
            <a:avLst>
              <a:gd name="adj" fmla="val 4138"/>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8" name="Text 6"/>
          <p:cNvSpPr/>
          <p:nvPr/>
        </p:nvSpPr>
        <p:spPr>
          <a:xfrm>
            <a:off x="6492240" y="146304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What happens if an item has no image or no text?</a:t>
            </a:r>
            <a:endParaRPr lang="en-US" sz="1300" dirty="0"/>
          </a:p>
        </p:txBody>
      </p:sp>
      <p:sp>
        <p:nvSpPr>
          <p:cNvPr id="9" name="Text 7"/>
          <p:cNvSpPr/>
          <p:nvPr/>
        </p:nvSpPr>
        <p:spPr>
          <a:xfrm>
            <a:off x="6492240" y="199339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Not addressed in the paper — explicitly listed as a limitation (needs item content for both modalities to work).</a:t>
            </a:r>
            <a:endParaRPr lang="en-US" sz="1200" dirty="0"/>
          </a:p>
        </p:txBody>
      </p:sp>
      <p:sp>
        <p:nvSpPr>
          <p:cNvPr id="10" name="Shape 8"/>
          <p:cNvSpPr/>
          <p:nvPr/>
        </p:nvSpPr>
        <p:spPr>
          <a:xfrm>
            <a:off x="640080" y="2788920"/>
            <a:ext cx="5257800" cy="1325880"/>
          </a:xfrm>
          <a:prstGeom prst="roundRect">
            <a:avLst>
              <a:gd name="adj" fmla="val 413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1" name="Text 9"/>
          <p:cNvSpPr/>
          <p:nvPr/>
        </p:nvSpPr>
        <p:spPr>
          <a:xfrm>
            <a:off x="868680" y="288036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Why does pre-training hurt the Games dataset?</a:t>
            </a:r>
            <a:endParaRPr lang="en-US" sz="1300" dirty="0"/>
          </a:p>
        </p:txBody>
      </p:sp>
      <p:sp>
        <p:nvSpPr>
          <p:cNvPr id="12" name="Text 10"/>
          <p:cNvSpPr/>
          <p:nvPr/>
        </p:nvSpPr>
        <p:spPr>
          <a:xfrm>
            <a:off x="868680" y="341071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Paper attributes it to overfitting / domain mismatch — Games differs more from the 6 source categories than Instruments or Arts do.</a:t>
            </a:r>
            <a:endParaRPr lang="en-US" sz="1200" dirty="0"/>
          </a:p>
        </p:txBody>
      </p:sp>
      <p:sp>
        <p:nvSpPr>
          <p:cNvPr id="13" name="Shape 11"/>
          <p:cNvSpPr/>
          <p:nvPr/>
        </p:nvSpPr>
        <p:spPr>
          <a:xfrm>
            <a:off x="6263640" y="2788920"/>
            <a:ext cx="5257800" cy="1325880"/>
          </a:xfrm>
          <a:prstGeom prst="roundRect">
            <a:avLst>
              <a:gd name="adj" fmla="val 4138"/>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14" name="Text 12"/>
          <p:cNvSpPr/>
          <p:nvPr/>
        </p:nvSpPr>
        <p:spPr>
          <a:xfrm>
            <a:off x="6492240" y="288036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Is inference slower than classic recommenders?</a:t>
            </a:r>
            <a:endParaRPr lang="en-US" sz="1300" dirty="0"/>
          </a:p>
        </p:txBody>
      </p:sp>
      <p:sp>
        <p:nvSpPr>
          <p:cNvPr id="15" name="Text 13"/>
          <p:cNvSpPr/>
          <p:nvPr/>
        </p:nvSpPr>
        <p:spPr>
          <a:xfrm>
            <a:off x="6492240" y="341071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Yes — beam search + autoregressive generation is inherently slower than a single forward pass in traditional ranking models.</a:t>
            </a:r>
            <a:endParaRPr lang="en-US" sz="1200" dirty="0"/>
          </a:p>
        </p:txBody>
      </p:sp>
      <p:sp>
        <p:nvSpPr>
          <p:cNvPr id="16" name="Shape 14"/>
          <p:cNvSpPr/>
          <p:nvPr/>
        </p:nvSpPr>
        <p:spPr>
          <a:xfrm>
            <a:off x="640080" y="4206240"/>
            <a:ext cx="5257800" cy="1325880"/>
          </a:xfrm>
          <a:prstGeom prst="roundRect">
            <a:avLst>
              <a:gd name="adj" fmla="val 4138"/>
            </a:avLst>
          </a:prstGeom>
          <a:solidFill>
            <a:srgbClr val="FFFFFF"/>
          </a:solidFill>
          <a:ln w="9525">
            <a:solidFill>
              <a:srgbClr val="CCCCCC"/>
            </a:solidFill>
            <a:prstDash val="solid"/>
          </a:ln>
          <a:effectLst>
            <a:outerShdw sx="100000" sy="100000" kx="0" ky="0" algn="bl" rotWithShape="0" blurRad="76200" dist="25400" dir="5400000">
              <a:srgbClr val="000000">
                <a:alpha val="12000"/>
              </a:srgbClr>
            </a:outerShdw>
          </a:effectLst>
        </p:spPr>
      </p:sp>
      <p:sp>
        <p:nvSpPr>
          <p:cNvPr id="17" name="Text 15"/>
          <p:cNvSpPr/>
          <p:nvPr/>
        </p:nvSpPr>
        <p:spPr>
          <a:xfrm>
            <a:off x="868680" y="429768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How big is the model, and what hardware was used?</a:t>
            </a:r>
            <a:endParaRPr lang="en-US" sz="1300" dirty="0"/>
          </a:p>
        </p:txBody>
      </p:sp>
      <p:sp>
        <p:nvSpPr>
          <p:cNvPr id="18" name="Text 16"/>
          <p:cNvSpPr/>
          <p:nvPr/>
        </p:nvSpPr>
        <p:spPr>
          <a:xfrm>
            <a:off x="868680" y="482803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~13M parameters; trained on Tesla V100 GPUs — 4 cards for pre-training, 2 for fine-tuning.</a:t>
            </a:r>
            <a:endParaRPr lang="en-US" sz="1200" dirty="0"/>
          </a:p>
        </p:txBody>
      </p:sp>
      <p:sp>
        <p:nvSpPr>
          <p:cNvPr id="19" name="Shape 17"/>
          <p:cNvSpPr/>
          <p:nvPr/>
        </p:nvSpPr>
        <p:spPr>
          <a:xfrm>
            <a:off x="6263640" y="4206240"/>
            <a:ext cx="5257800" cy="1325880"/>
          </a:xfrm>
          <a:prstGeom prst="roundRect">
            <a:avLst>
              <a:gd name="adj" fmla="val 4138"/>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20" name="Text 18"/>
          <p:cNvSpPr/>
          <p:nvPr/>
        </p:nvSpPr>
        <p:spPr>
          <a:xfrm>
            <a:off x="6492240" y="4297680"/>
            <a:ext cx="4800600" cy="502920"/>
          </a:xfrm>
          <a:prstGeom prst="rect">
            <a:avLst/>
          </a:prstGeom>
          <a:noFill/>
          <a:ln/>
        </p:spPr>
        <p:txBody>
          <a:bodyPr wrap="square" rtlCol="0" anchor="ctr"/>
          <a:lstStyle/>
          <a:p>
            <a:pPr indent="0" marL="0">
              <a:lnSpc>
                <a:spcPct val="110000"/>
              </a:lnSpc>
              <a:buNone/>
            </a:pPr>
            <a:r>
              <a:rPr lang="en-US" sz="1300" b="1" dirty="0">
                <a:solidFill>
                  <a:srgbClr val="A62C2C"/>
                </a:solidFill>
                <a:latin typeface="Calibri" pitchFamily="34" charset="0"/>
                <a:ea typeface="Calibri" pitchFamily="34" charset="-122"/>
                <a:cs typeface="Calibri" pitchFamily="34" charset="-120"/>
              </a:rPr>
              <a:t>Q:  How is collision handling actually validated?</a:t>
            </a:r>
            <a:endParaRPr lang="en-US" sz="1300" dirty="0"/>
          </a:p>
        </p:txBody>
      </p:sp>
      <p:sp>
        <p:nvSpPr>
          <p:cNvPr id="21" name="Text 19"/>
          <p:cNvSpPr/>
          <p:nvPr/>
        </p:nvSpPr>
        <p:spPr>
          <a:xfrm>
            <a:off x="6492240" y="4828032"/>
            <a:ext cx="4800600" cy="640080"/>
          </a:xfrm>
          <a:prstGeom prst="rect">
            <a:avLst/>
          </a:prstGeom>
          <a:noFill/>
          <a:ln/>
        </p:spPr>
        <p:txBody>
          <a:bodyPr wrap="square" rtlCol="0" anchor="ctr"/>
          <a:lstStyle/>
          <a:p>
            <a:pPr indent="0" marL="0">
              <a:lnSpc>
                <a:spcPct val="115000"/>
              </a:lnSpc>
              <a:buNone/>
            </a:pPr>
            <a:r>
              <a:rPr lang="en-US" sz="1200" dirty="0">
                <a:solidFill>
                  <a:srgbClr val="222222"/>
                </a:solidFill>
                <a:latin typeface="Calibri" pitchFamily="34" charset="0"/>
                <a:ea typeface="Calibri" pitchFamily="34" charset="-122"/>
                <a:cs typeface="Calibri" pitchFamily="34" charset="-120"/>
              </a:rPr>
              <a:t>A:  Table 2 ablation: distance-based reallocation beats TIGER's extra-digit method on NDCG@10 in all 3 datasets, and HR@10 in 2 of 3 (near-parity on Arts).</a:t>
            </a:r>
            <a:endParaRPr lang="en-US" sz="1200" dirty="0"/>
          </a:p>
        </p:txBody>
      </p:sp>
      <p:sp>
        <p:nvSpPr>
          <p:cNvPr id="22" name="Text 20"/>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20</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EEEEE"/>
        </a:solidFill>
      </p:bgPr>
    </p:bg>
    <p:spTree>
      <p:nvGrpSpPr>
        <p:cNvPr id="1" name=""/>
        <p:cNvGrpSpPr/>
        <p:nvPr/>
      </p:nvGrpSpPr>
      <p:grpSpPr>
        <a:xfrm>
          <a:off x="0" y="0"/>
          <a:ext cx="0" cy="0"/>
          <a:chOff x="0" y="0"/>
          <a:chExt cx="0" cy="0"/>
        </a:xfrm>
      </p:grpSpPr>
      <p:sp>
        <p:nvSpPr>
          <p:cNvPr id="2" name="Text 0"/>
          <p:cNvSpPr/>
          <p:nvPr/>
        </p:nvSpPr>
        <p:spPr>
          <a:xfrm>
            <a:off x="548640" y="320040"/>
            <a:ext cx="11091672" cy="685800"/>
          </a:xfrm>
          <a:prstGeom prst="rect">
            <a:avLst/>
          </a:prstGeom>
          <a:noFill/>
          <a:ln/>
        </p:spPr>
        <p:txBody>
          <a:bodyPr wrap="square" rtlCol="0" anchor="ctr"/>
          <a:lstStyle/>
          <a:p>
            <a:pPr algn="ctr" indent="0" marL="0">
              <a:buNone/>
            </a:pPr>
            <a:r>
              <a:rPr lang="en-US" sz="3200" b="1" dirty="0">
                <a:solidFill>
                  <a:srgbClr val="000000"/>
                </a:solidFill>
                <a:latin typeface="Calibri" pitchFamily="34" charset="0"/>
                <a:ea typeface="Calibri" pitchFamily="34" charset="-122"/>
                <a:cs typeface="Calibri" pitchFamily="34" charset="-120"/>
              </a:rPr>
              <a:t>References</a:t>
            </a:r>
            <a:endParaRPr lang="en-US" sz="3200" dirty="0"/>
          </a:p>
        </p:txBody>
      </p:sp>
      <p:sp>
        <p:nvSpPr>
          <p:cNvPr id="3" name="Shape 1"/>
          <p:cNvSpPr/>
          <p:nvPr/>
        </p:nvSpPr>
        <p:spPr>
          <a:xfrm>
            <a:off x="4758556" y="1024128"/>
            <a:ext cx="2671839" cy="36576"/>
          </a:xfrm>
          <a:prstGeom prst="rect">
            <a:avLst/>
          </a:prstGeom>
          <a:solidFill>
            <a:srgbClr val="FF9900"/>
          </a:solidFill>
          <a:ln/>
        </p:spPr>
      </p:sp>
      <p:sp>
        <p:nvSpPr>
          <p:cNvPr id="4" name="Shape 2"/>
          <p:cNvSpPr/>
          <p:nvPr/>
        </p:nvSpPr>
        <p:spPr>
          <a:xfrm>
            <a:off x="640080" y="1371600"/>
            <a:ext cx="10881360" cy="914400"/>
          </a:xfrm>
          <a:prstGeom prst="roundRect">
            <a:avLst>
              <a:gd name="adj" fmla="val 6000"/>
            </a:avLst>
          </a:prstGeom>
          <a:solidFill>
            <a:srgbClr val="EAD1DC"/>
          </a:solidFill>
          <a:ln w="9525">
            <a:solidFill>
              <a:srgbClr val="D9A9BC"/>
            </a:solidFill>
            <a:prstDash val="solid"/>
          </a:ln>
          <a:effectLst>
            <a:outerShdw sx="100000" sy="100000" kx="0" ky="0" algn="bl" rotWithShape="0" blurRad="76200" dist="25400" dir="5400000">
              <a:srgbClr val="000000">
                <a:alpha val="12000"/>
              </a:srgbClr>
            </a:outerShdw>
          </a:effectLst>
        </p:spPr>
      </p:sp>
      <p:sp>
        <p:nvSpPr>
          <p:cNvPr id="5" name="Text 3"/>
          <p:cNvSpPr/>
          <p:nvPr/>
        </p:nvSpPr>
        <p:spPr>
          <a:xfrm>
            <a:off x="914400" y="1481328"/>
            <a:ext cx="10332720" cy="731520"/>
          </a:xfrm>
          <a:prstGeom prst="rect">
            <a:avLst/>
          </a:prstGeom>
          <a:noFill/>
          <a:ln/>
        </p:spPr>
        <p:txBody>
          <a:bodyPr wrap="square" rtlCol="0" anchor="ctr"/>
          <a:lstStyle/>
          <a:p>
            <a:pPr indent="0" marL="0">
              <a:lnSpc>
                <a:spcPct val="125000"/>
              </a:lnSpc>
              <a:buNone/>
            </a:pPr>
            <a:r>
              <a:rPr lang="en-US" sz="1300" b="1" dirty="0">
                <a:solidFill>
                  <a:srgbClr val="A62C2C"/>
                </a:solidFill>
                <a:latin typeface="Calibri" pitchFamily="34" charset="0"/>
                <a:ea typeface="Calibri" pitchFamily="34" charset="-122"/>
                <a:cs typeface="Calibri" pitchFamily="34" charset="-120"/>
              </a:rPr>
              <a:t>Primary paper:  </a:t>
            </a:r>
            <a:pPr indent="0" marL="0">
              <a:lnSpc>
                <a:spcPct val="125000"/>
              </a:lnSpc>
              <a:buNone/>
            </a:pPr>
            <a:r>
              <a:rPr lang="en-US" sz="1300" dirty="0">
                <a:solidFill>
                  <a:srgbClr val="222222"/>
                </a:solidFill>
                <a:latin typeface="Calibri" pitchFamily="34" charset="0"/>
                <a:ea typeface="Calibri" pitchFamily="34" charset="-122"/>
                <a:cs typeface="Calibri" pitchFamily="34" charset="-120"/>
              </a:rPr>
              <a:t>Zhai, J., Mai, Z.-F., Wang, C.-D., Yang, F., Zheng, X., Li, H., &amp; Tian, Y. (2025). Multimodal quantitative language for generative recommendation. In Proceedings of the International Conference on Learning Representations (ICLR 2025).</a:t>
            </a:r>
            <a:endParaRPr lang="en-US" sz="1300" dirty="0"/>
          </a:p>
        </p:txBody>
      </p:sp>
      <p:sp>
        <p:nvSpPr>
          <p:cNvPr id="6" name="Shape 4"/>
          <p:cNvSpPr/>
          <p:nvPr/>
        </p:nvSpPr>
        <p:spPr>
          <a:xfrm>
            <a:off x="640080" y="2514600"/>
            <a:ext cx="5257800" cy="1280160"/>
          </a:xfrm>
          <a:prstGeom prst="roundRect">
            <a:avLst>
              <a:gd name="adj" fmla="val 4286"/>
            </a:avLst>
          </a:prstGeom>
          <a:solidFill>
            <a:srgbClr val="FFFFFF"/>
          </a:solidFill>
          <a:ln w="9525">
            <a:solidFill>
              <a:srgbClr val="CCCCCC"/>
            </a:solidFill>
            <a:prstDash val="solid"/>
          </a:ln>
        </p:spPr>
      </p:sp>
      <p:sp>
        <p:nvSpPr>
          <p:cNvPr id="7" name="Text 5"/>
          <p:cNvSpPr/>
          <p:nvPr/>
        </p:nvSpPr>
        <p:spPr>
          <a:xfrm>
            <a:off x="868680" y="260604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Rajput, S., Mehta, N., Singh, A., Hulikal Keshavan, R., Vu, T., Heldt, L., Hong, L., Tay, Y., Tran, V. Q., Samost, J., Kula, M., Chi, E. H., &amp; Sathiamoorthy, M. (2023). Recommender systems with generative retrieval. In Advances in Neural Information Processing Systems 36 (NeurIPS 2023).</a:t>
            </a:r>
            <a:endParaRPr lang="en-US" sz="1100" dirty="0"/>
          </a:p>
        </p:txBody>
      </p:sp>
      <p:sp>
        <p:nvSpPr>
          <p:cNvPr id="8" name="Shape 6"/>
          <p:cNvSpPr/>
          <p:nvPr/>
        </p:nvSpPr>
        <p:spPr>
          <a:xfrm>
            <a:off x="6263640" y="2514600"/>
            <a:ext cx="5257800" cy="1280160"/>
          </a:xfrm>
          <a:prstGeom prst="roundRect">
            <a:avLst>
              <a:gd name="adj" fmla="val 4286"/>
            </a:avLst>
          </a:prstGeom>
          <a:solidFill>
            <a:srgbClr val="FFFFFF"/>
          </a:solidFill>
          <a:ln w="9525">
            <a:solidFill>
              <a:srgbClr val="CCCCCC"/>
            </a:solidFill>
            <a:prstDash val="solid"/>
          </a:ln>
        </p:spPr>
      </p:sp>
      <p:sp>
        <p:nvSpPr>
          <p:cNvPr id="9" name="Text 7"/>
          <p:cNvSpPr/>
          <p:nvPr/>
        </p:nvSpPr>
        <p:spPr>
          <a:xfrm>
            <a:off x="6492240" y="260604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Geng, S., Tan, J., Liu, S., Fu, Z., &amp; Zhang, Y. (2023). VIP5: Towards multimodal foundation models for recommendation. In Findings of the Association for Computational Linguistics: EMNLP 2023 (pp. 9606–9620). ACL.</a:t>
            </a:r>
            <a:endParaRPr lang="en-US" sz="1100" dirty="0"/>
          </a:p>
        </p:txBody>
      </p:sp>
      <p:sp>
        <p:nvSpPr>
          <p:cNvPr id="10" name="Shape 8"/>
          <p:cNvSpPr/>
          <p:nvPr/>
        </p:nvSpPr>
        <p:spPr>
          <a:xfrm>
            <a:off x="640080" y="3931920"/>
            <a:ext cx="5257800" cy="1280160"/>
          </a:xfrm>
          <a:prstGeom prst="roundRect">
            <a:avLst>
              <a:gd name="adj" fmla="val 4286"/>
            </a:avLst>
          </a:prstGeom>
          <a:solidFill>
            <a:srgbClr val="EEEEEE"/>
          </a:solidFill>
          <a:ln w="9525">
            <a:solidFill>
              <a:srgbClr val="CCCCCC"/>
            </a:solidFill>
            <a:prstDash val="solid"/>
          </a:ln>
        </p:spPr>
      </p:sp>
      <p:sp>
        <p:nvSpPr>
          <p:cNvPr id="11" name="Text 9"/>
          <p:cNvSpPr/>
          <p:nvPr/>
        </p:nvSpPr>
        <p:spPr>
          <a:xfrm>
            <a:off x="868680" y="402336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Hua, W., Xu, S., Ge, Y., &amp; Zhang, Y. (2023). How to index item IDs for recommendation foundation models. In Proceedings of the Annual International ACM SIGIR Conference on Research and Development in Information Retrieval in the Asia Pacific Region (SIGIR-AP 2023) (pp. 195–204). ACM.</a:t>
            </a:r>
            <a:endParaRPr lang="en-US" sz="1100" dirty="0"/>
          </a:p>
        </p:txBody>
      </p:sp>
      <p:sp>
        <p:nvSpPr>
          <p:cNvPr id="12" name="Shape 10"/>
          <p:cNvSpPr/>
          <p:nvPr/>
        </p:nvSpPr>
        <p:spPr>
          <a:xfrm>
            <a:off x="6263640" y="3931920"/>
            <a:ext cx="5257800" cy="1280160"/>
          </a:xfrm>
          <a:prstGeom prst="roundRect">
            <a:avLst>
              <a:gd name="adj" fmla="val 4286"/>
            </a:avLst>
          </a:prstGeom>
          <a:solidFill>
            <a:srgbClr val="EEEEEE"/>
          </a:solidFill>
          <a:ln w="9525">
            <a:solidFill>
              <a:srgbClr val="CCCCCC"/>
            </a:solidFill>
            <a:prstDash val="solid"/>
          </a:ln>
        </p:spPr>
      </p:sp>
      <p:sp>
        <p:nvSpPr>
          <p:cNvPr id="13" name="Text 11"/>
          <p:cNvSpPr/>
          <p:nvPr/>
        </p:nvSpPr>
        <p:spPr>
          <a:xfrm>
            <a:off x="6492240" y="402336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Zeghidour, N., Luebs, A., Omran, A., Skoglund, J., &amp; Tagliasacchi, M. (2021). SoundStream: An end-to-end neural audio codec. IEEE/ACM Transactions on Audio, Speech, and Language Processing, 30, 495–507.</a:t>
            </a:r>
            <a:endParaRPr lang="en-US" sz="1100" dirty="0"/>
          </a:p>
        </p:txBody>
      </p:sp>
      <p:sp>
        <p:nvSpPr>
          <p:cNvPr id="14" name="Shape 12"/>
          <p:cNvSpPr/>
          <p:nvPr/>
        </p:nvSpPr>
        <p:spPr>
          <a:xfrm>
            <a:off x="640080" y="5349240"/>
            <a:ext cx="5257800" cy="1280160"/>
          </a:xfrm>
          <a:prstGeom prst="roundRect">
            <a:avLst>
              <a:gd name="adj" fmla="val 4286"/>
            </a:avLst>
          </a:prstGeom>
          <a:solidFill>
            <a:srgbClr val="FFFFFF"/>
          </a:solidFill>
          <a:ln w="9525">
            <a:solidFill>
              <a:srgbClr val="CCCCCC"/>
            </a:solidFill>
            <a:prstDash val="solid"/>
          </a:ln>
        </p:spPr>
      </p:sp>
      <p:sp>
        <p:nvSpPr>
          <p:cNvPr id="15" name="Text 13"/>
          <p:cNvSpPr/>
          <p:nvPr/>
        </p:nvSpPr>
        <p:spPr>
          <a:xfrm>
            <a:off x="868680" y="544068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Zheng, B., Hou, Y., Lu, H., Chen, Y., Zhao, W. X., &amp; Wen, J.-R. (2023). Adapting large language models by integrating collaborative semantics for recommendation. arXiv preprint arXiv:2311.09049.</a:t>
            </a:r>
            <a:endParaRPr lang="en-US" sz="1100" dirty="0"/>
          </a:p>
        </p:txBody>
      </p:sp>
      <p:sp>
        <p:nvSpPr>
          <p:cNvPr id="16" name="Shape 14"/>
          <p:cNvSpPr/>
          <p:nvPr/>
        </p:nvSpPr>
        <p:spPr>
          <a:xfrm>
            <a:off x="6263640" y="5349240"/>
            <a:ext cx="5257800" cy="1280160"/>
          </a:xfrm>
          <a:prstGeom prst="roundRect">
            <a:avLst>
              <a:gd name="adj" fmla="val 4286"/>
            </a:avLst>
          </a:prstGeom>
          <a:solidFill>
            <a:srgbClr val="FFFFFF"/>
          </a:solidFill>
          <a:ln w="9525">
            <a:solidFill>
              <a:srgbClr val="CCCCCC"/>
            </a:solidFill>
            <a:prstDash val="solid"/>
          </a:ln>
        </p:spPr>
      </p:sp>
      <p:sp>
        <p:nvSpPr>
          <p:cNvPr id="17" name="Text 15"/>
          <p:cNvSpPr/>
          <p:nvPr/>
        </p:nvSpPr>
        <p:spPr>
          <a:xfrm>
            <a:off x="6492240" y="5440680"/>
            <a:ext cx="4800600" cy="1097280"/>
          </a:xfrm>
          <a:prstGeom prst="rect">
            <a:avLst/>
          </a:prstGeom>
          <a:noFill/>
          <a:ln/>
        </p:spPr>
        <p:txBody>
          <a:bodyPr wrap="square" rtlCol="0" anchor="t"/>
          <a:lstStyle/>
          <a:p>
            <a:pPr indent="0" marL="0">
              <a:lnSpc>
                <a:spcPct val="120000"/>
              </a:lnSpc>
              <a:buNone/>
            </a:pPr>
            <a:r>
              <a:rPr lang="en-US" sz="1100" dirty="0">
                <a:solidFill>
                  <a:srgbClr val="222222"/>
                </a:solidFill>
                <a:latin typeface="Calibri" pitchFamily="34" charset="0"/>
                <a:ea typeface="Calibri" pitchFamily="34" charset="-122"/>
                <a:cs typeface="Calibri" pitchFamily="34" charset="-120"/>
              </a:rPr>
              <a:t>Ni, J., Li, J., &amp; McAuley, J. (2019). Justifying recommendations using distantly-labeled reviews and fine-grained aspects. In Proceedings of EMNLP-IJCNLP 2019 (pp. 188–197). ACL.</a:t>
            </a:r>
            <a:endParaRPr lang="en-US" sz="11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1150" dirty="0">
                <a:solidFill>
                  <a:srgbClr val="666666"/>
                </a:solidFill>
                <a:latin typeface="Calibri" pitchFamily="34" charset="0"/>
                <a:ea typeface="Calibri" pitchFamily="34" charset="-122"/>
                <a:cs typeface="Calibri" pitchFamily="34" charset="-120"/>
              </a:rPr>
              <a:t>21</a:t>
            </a:r>
            <a:endParaRPr lang="en-US" sz="11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EEEEE"/>
        </a:solidFill>
      </p:bgPr>
    </p:bg>
    <p:spTree>
      <p:nvGrpSpPr>
        <p:cNvPr id="1" name=""/>
        <p:cNvGrpSpPr/>
        <p:nvPr/>
      </p:nvGrpSpPr>
      <p:grpSpPr>
        <a:xfrm>
          <a:off x="0" y="0"/>
          <a:ext cx="0" cy="0"/>
          <a:chOff x="0" y="0"/>
          <a:chExt cx="0" cy="0"/>
        </a:xfrm>
      </p:grpSpPr>
      <p:sp>
        <p:nvSpPr>
          <p:cNvPr id="2" name="Shape 0"/>
          <p:cNvSpPr/>
          <p:nvPr/>
        </p:nvSpPr>
        <p:spPr>
          <a:xfrm>
            <a:off x="8503920" y="-1188720"/>
            <a:ext cx="5029200" cy="5029200"/>
          </a:xfrm>
          <a:prstGeom prst="ellipse">
            <a:avLst/>
          </a:prstGeom>
          <a:solidFill>
            <a:srgbClr val="EAD1DC"/>
          </a:solidFill>
          <a:ln/>
        </p:spPr>
      </p:sp>
      <p:sp>
        <p:nvSpPr>
          <p:cNvPr id="3" name="Shape 1"/>
          <p:cNvSpPr/>
          <p:nvPr/>
        </p:nvSpPr>
        <p:spPr>
          <a:xfrm>
            <a:off x="9692640" y="4206240"/>
            <a:ext cx="3291840" cy="3291840"/>
          </a:xfrm>
          <a:prstGeom prst="ellipse">
            <a:avLst/>
          </a:prstGeom>
          <a:solidFill>
            <a:srgbClr val="D9A9BC"/>
          </a:solidFill>
          <a:ln/>
        </p:spPr>
      </p:sp>
      <p:sp>
        <p:nvSpPr>
          <p:cNvPr id="4" name="Text 2"/>
          <p:cNvSpPr/>
          <p:nvPr/>
        </p:nvSpPr>
        <p:spPr>
          <a:xfrm>
            <a:off x="731520" y="2286000"/>
            <a:ext cx="7315200" cy="822960"/>
          </a:xfrm>
          <a:prstGeom prst="rect">
            <a:avLst/>
          </a:prstGeom>
          <a:noFill/>
          <a:ln/>
        </p:spPr>
        <p:txBody>
          <a:bodyPr wrap="square" rtlCol="0" anchor="ctr"/>
          <a:lstStyle/>
          <a:p>
            <a:pPr indent="0" marL="0">
              <a:buNone/>
            </a:pPr>
            <a:r>
              <a:rPr lang="en-US" sz="4100" b="1" dirty="0">
                <a:solidFill>
                  <a:srgbClr val="000000"/>
                </a:solidFill>
                <a:latin typeface="Calibri" pitchFamily="34" charset="0"/>
                <a:ea typeface="Calibri" pitchFamily="34" charset="-122"/>
                <a:cs typeface="Calibri" pitchFamily="34" charset="-120"/>
              </a:rPr>
              <a:t>Thank You!</a:t>
            </a:r>
            <a:endParaRPr lang="en-US" sz="4100" dirty="0"/>
          </a:p>
        </p:txBody>
      </p:sp>
      <p:sp>
        <p:nvSpPr>
          <p:cNvPr id="5" name="Shape 3"/>
          <p:cNvSpPr/>
          <p:nvPr/>
        </p:nvSpPr>
        <p:spPr>
          <a:xfrm>
            <a:off x="777240" y="3063240"/>
            <a:ext cx="1828800" cy="36576"/>
          </a:xfrm>
          <a:prstGeom prst="rect">
            <a:avLst/>
          </a:prstGeom>
          <a:solidFill>
            <a:srgbClr val="FF9900"/>
          </a:solidFill>
          <a:ln/>
        </p:spPr>
      </p:sp>
      <p:sp>
        <p:nvSpPr>
          <p:cNvPr id="6" name="Text 4"/>
          <p:cNvSpPr/>
          <p:nvPr/>
        </p:nvSpPr>
        <p:spPr>
          <a:xfrm>
            <a:off x="731520" y="3337560"/>
            <a:ext cx="7315200" cy="1188720"/>
          </a:xfrm>
          <a:prstGeom prst="rect">
            <a:avLst/>
          </a:prstGeom>
          <a:noFill/>
          <a:ln/>
        </p:spPr>
        <p:txBody>
          <a:bodyPr wrap="square" rtlCol="0" anchor="ctr"/>
          <a:lstStyle/>
          <a:p>
            <a:pPr indent="0" marL="0">
              <a:lnSpc>
                <a:spcPct val="135000"/>
              </a:lnSpc>
              <a:buNone/>
            </a:pPr>
            <a:r>
              <a:rPr lang="en-US" sz="1500" dirty="0">
                <a:solidFill>
                  <a:srgbClr val="222222"/>
                </a:solidFill>
                <a:latin typeface="Calibri" pitchFamily="34" charset="0"/>
                <a:ea typeface="Calibri" pitchFamily="34" charset="-122"/>
                <a:cs typeface="Calibri" pitchFamily="34" charset="-120"/>
              </a:rPr>
              <a:t>MQL4GRec shows that recommendation knowledge can be transferred across domains and modalities through one shared, meaningful token language — not brittle, arbitrary item IDs.</a:t>
            </a:r>
            <a:endParaRPr lang="en-US" sz="1500" dirty="0"/>
          </a:p>
        </p:txBody>
      </p:sp>
      <p:sp>
        <p:nvSpPr>
          <p:cNvPr id="7" name="Text 5"/>
          <p:cNvSpPr/>
          <p:nvPr/>
        </p:nvSpPr>
        <p:spPr>
          <a:xfrm>
            <a:off x="731520" y="4754880"/>
            <a:ext cx="7315200" cy="457200"/>
          </a:xfrm>
          <a:prstGeom prst="rect">
            <a:avLst/>
          </a:prstGeom>
          <a:noFill/>
          <a:ln/>
        </p:spPr>
        <p:txBody>
          <a:bodyPr wrap="square" rtlCol="0" anchor="ctr"/>
          <a:lstStyle/>
          <a:p>
            <a:pPr indent="0" marL="0">
              <a:buNone/>
            </a:pPr>
            <a:r>
              <a:rPr lang="en-US" sz="1550" b="1" i="1" dirty="0">
                <a:solidFill>
                  <a:srgbClr val="A62C2C"/>
                </a:solidFill>
                <a:latin typeface="Calibri" pitchFamily="34" charset="0"/>
                <a:ea typeface="Calibri" pitchFamily="34" charset="-122"/>
                <a:cs typeface="Calibri" pitchFamily="34" charset="-120"/>
              </a:rPr>
              <a:t>Questions &amp; Discussion Welcome</a:t>
            </a:r>
            <a:endParaRPr lang="en-US" sz="1550" dirty="0"/>
          </a:p>
        </p:txBody>
      </p:sp>
      <p:sp>
        <p:nvSpPr>
          <p:cNvPr id="8" name="Text 6"/>
          <p:cNvSpPr/>
          <p:nvPr/>
        </p:nvSpPr>
        <p:spPr>
          <a:xfrm>
            <a:off x="731520" y="6126480"/>
            <a:ext cx="7315200" cy="365760"/>
          </a:xfrm>
          <a:prstGeom prst="rect">
            <a:avLst/>
          </a:prstGeom>
          <a:noFill/>
          <a:ln/>
        </p:spPr>
        <p:txBody>
          <a:bodyPr wrap="square" rtlCol="0" anchor="ctr"/>
          <a:lstStyle/>
          <a:p>
            <a:pPr indent="0" marL="0">
              <a:buNone/>
            </a:pPr>
            <a:r>
              <a:rPr lang="en-US" sz="1250" dirty="0">
                <a:solidFill>
                  <a:srgbClr val="666666"/>
                </a:solidFill>
                <a:latin typeface="Calibri" pitchFamily="34" charset="0"/>
                <a:ea typeface="Calibri" pitchFamily="34" charset="-122"/>
                <a:cs typeface="Calibri" pitchFamily="34" charset="-120"/>
              </a:rPr>
              <a:t>Prepared by Krishna Sharma  ·  MISN Lab, IIT Delhi</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2026-08-17T05:13:09Z</dcterms:created>
  <dcterms:modified xsi:type="dcterms:W3CDTF">2026-08-17T05:13:09Z</dcterms:modified>
</cp:coreProperties>
</file>